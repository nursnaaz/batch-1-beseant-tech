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28" r:id="rId2"/>
  </p:sldMasterIdLst>
  <p:notesMasterIdLst>
    <p:notesMasterId r:id="rId12"/>
  </p:notesMasterIdLst>
  <p:sldIdLst>
    <p:sldId id="256" r:id="rId3"/>
    <p:sldId id="694" r:id="rId4"/>
    <p:sldId id="695" r:id="rId5"/>
    <p:sldId id="698" r:id="rId6"/>
    <p:sldId id="699" r:id="rId7"/>
    <p:sldId id="700" r:id="rId8"/>
    <p:sldId id="702" r:id="rId9"/>
    <p:sldId id="697" r:id="rId10"/>
    <p:sldId id="696" r:id="rId11"/>
  </p:sldIdLst>
  <p:sldSz cx="10287000" cy="6858000" type="35mm"/>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6E78CE95-162B-40C8-A951-718D90E62CB7}">
          <p14:sldIdLst>
            <p14:sldId id="256"/>
            <p14:sldId id="694"/>
            <p14:sldId id="695"/>
            <p14:sldId id="698"/>
            <p14:sldId id="699"/>
            <p14:sldId id="700"/>
            <p14:sldId id="702"/>
            <p14:sldId id="697"/>
            <p14:sldId id="696"/>
          </p14:sldIdLst>
        </p14:section>
      </p14:sectionLst>
    </p:ext>
    <p:ext uri="{EFAFB233-063F-42B5-8137-9DF3F51BA10A}">
      <p15:sldGuideLst xmlns:p15="http://schemas.microsoft.com/office/powerpoint/2012/main">
        <p15:guide id="1" orient="horz" pos="2160">
          <p15:clr>
            <a:srgbClr val="A4A3A4"/>
          </p15:clr>
        </p15:guide>
        <p15:guide id="2" pos="32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6600"/>
    <a:srgbClr val="346374"/>
    <a:srgbClr val="0077BD"/>
    <a:srgbClr val="003399"/>
    <a:srgbClr val="CC3300"/>
    <a:srgbClr val="FF3300"/>
    <a:srgbClr val="57AEE3"/>
    <a:srgbClr val="DDDDDD"/>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05" autoAdjust="0"/>
    <p:restoredTop sz="90590" autoAdjust="0"/>
  </p:normalViewPr>
  <p:slideViewPr>
    <p:cSldViewPr>
      <p:cViewPr varScale="1">
        <p:scale>
          <a:sx n="63" d="100"/>
          <a:sy n="63" d="100"/>
        </p:scale>
        <p:origin x="714" y="72"/>
      </p:cViewPr>
      <p:guideLst>
        <p:guide orient="horz" pos="2160"/>
        <p:guide pos="32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47" tIns="48324" rIns="96647" bIns="48324" numCol="1" anchor="t" anchorCtr="0" compatLnSpc="1">
            <a:prstTxWarp prst="textNoShape">
              <a:avLst/>
            </a:prstTxWarp>
          </a:bodyPr>
          <a:lstStyle>
            <a:lvl1pPr defTabSz="966788">
              <a:defRPr sz="1300"/>
            </a:lvl1pPr>
          </a:lstStyle>
          <a:p>
            <a:pPr>
              <a:defRPr/>
            </a:pPr>
            <a:endParaRPr lang="en-US"/>
          </a:p>
        </p:txBody>
      </p:sp>
      <p:sp>
        <p:nvSpPr>
          <p:cNvPr id="6147" name="Rectangle 3"/>
          <p:cNvSpPr>
            <a:spLocks noGrp="1" noChangeArrowheads="1"/>
          </p:cNvSpPr>
          <p:nvPr>
            <p:ph type="dt"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47" tIns="48324" rIns="96647" bIns="48324" numCol="1" anchor="t" anchorCtr="0" compatLnSpc="1">
            <a:prstTxWarp prst="textNoShape">
              <a:avLst/>
            </a:prstTxWarp>
          </a:bodyPr>
          <a:lstStyle>
            <a:lvl1pPr algn="r" defTabSz="966788">
              <a:defRPr sz="1300"/>
            </a:lvl1pPr>
          </a:lstStyle>
          <a:p>
            <a:pPr>
              <a:defRPr/>
            </a:pPr>
            <a:endParaRPr lang="en-US"/>
          </a:p>
        </p:txBody>
      </p:sp>
      <p:sp>
        <p:nvSpPr>
          <p:cNvPr id="22532" name="Rectangle 4"/>
          <p:cNvSpPr>
            <a:spLocks noGrp="1" noRot="1" noChangeAspect="1" noChangeArrowheads="1" noTextEdit="1"/>
          </p:cNvSpPr>
          <p:nvPr>
            <p:ph type="sldImg" idx="2"/>
          </p:nvPr>
        </p:nvSpPr>
        <p:spPr bwMode="auto">
          <a:xfrm>
            <a:off x="957263" y="720725"/>
            <a:ext cx="5400675"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731838" y="4560888"/>
            <a:ext cx="5851525"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47" tIns="48324" rIns="96647" bIns="483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47" tIns="48324" rIns="96647" bIns="48324" numCol="1" anchor="b" anchorCtr="0" compatLnSpc="1">
            <a:prstTxWarp prst="textNoShape">
              <a:avLst/>
            </a:prstTxWarp>
          </a:bodyPr>
          <a:lstStyle>
            <a:lvl1pPr defTabSz="966788">
              <a:defRPr sz="1300"/>
            </a:lvl1pPr>
          </a:lstStyle>
          <a:p>
            <a:pPr>
              <a:defRPr/>
            </a:pPr>
            <a:endParaRPr lang="en-US"/>
          </a:p>
        </p:txBody>
      </p:sp>
      <p:sp>
        <p:nvSpPr>
          <p:cNvPr id="6151" name="Rectangle 7"/>
          <p:cNvSpPr>
            <a:spLocks noGrp="1" noChangeArrowheads="1"/>
          </p:cNvSpPr>
          <p:nvPr>
            <p:ph type="sldNum" sz="quarter" idx="5"/>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47" tIns="48324" rIns="96647" bIns="48324" numCol="1" anchor="b" anchorCtr="0" compatLnSpc="1">
            <a:prstTxWarp prst="textNoShape">
              <a:avLst/>
            </a:prstTxWarp>
          </a:bodyPr>
          <a:lstStyle>
            <a:lvl1pPr algn="r" defTabSz="966788">
              <a:defRPr sz="1300"/>
            </a:lvl1pPr>
          </a:lstStyle>
          <a:p>
            <a:pPr>
              <a:defRPr/>
            </a:pPr>
            <a:fld id="{35648293-2628-4091-BED1-7FD9F7535785}" type="slidenum">
              <a:rPr lang="en-US"/>
              <a:pPr>
                <a:defRPr/>
              </a:pPr>
              <a:t>‹#›</a:t>
            </a:fld>
            <a:endParaRPr lang="en-US"/>
          </a:p>
        </p:txBody>
      </p:sp>
    </p:spTree>
    <p:extLst>
      <p:ext uri="{BB962C8B-B14F-4D97-AF65-F5344CB8AC3E}">
        <p14:creationId xmlns:p14="http://schemas.microsoft.com/office/powerpoint/2010/main" val="14741899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EC65E541-0C65-4668-97E0-BC8F9EF85E8B}" type="slidenum">
              <a:rPr lang="en-US" smtClean="0"/>
              <a:pPr eaLnBrk="1" hangingPunct="1"/>
              <a:t>1</a:t>
            </a:fld>
            <a:endParaRPr 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2204103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Let’s say you want to predict some output value y, for some input value x. For example, we would like to predict the fuel economy of a car based on the gear engaged and the speed of the car. To use any machine leaning approach, we first need some data. Let’s say for last 3 test drives, we recorded the gear, the speed and the fuel economy.  Now that you have some data, we are going to train the model to predict the fuel economy based on the </a:t>
            </a:r>
            <a:r>
              <a:rPr lang="en-IN" dirty="0" err="1"/>
              <a:t>the</a:t>
            </a:r>
            <a:r>
              <a:rPr lang="en-IN" dirty="0"/>
              <a:t> gear that is engaged and what speed you drive. This is a supervised regression problem. It is supervised because it has inputs and outputs. And it is a regression problem because we are predicting the mileage which is a continuous output. If we were asked to predict not the mileage but just labels like good, normal or bad mileage, then it would be a classification. Now, there are many algorithms that we know – like SVM, Random Forests, Classification &amp; Regression Trees. Today let us look at Artificial Neural Network. These are based on how the brain works, and they were found to be really good in classifying images, NLP. But before we feed in the data to the algorithm, we need to account for the differences in the units of data. This is because the ANN are not smart enough to understand the units of data. Hence we need to scale the data. We divide each variable value with the max value of that variable such that all the values remain between 0 and 1.  Now we can build our NN. We need two inputs and one output because these are the dimensions of our data. </a:t>
            </a:r>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3</a:t>
            </a:fld>
            <a:endParaRPr lang="en-US"/>
          </a:p>
        </p:txBody>
      </p:sp>
    </p:spTree>
    <p:extLst>
      <p:ext uri="{BB962C8B-B14F-4D97-AF65-F5344CB8AC3E}">
        <p14:creationId xmlns:p14="http://schemas.microsoft.com/office/powerpoint/2010/main" val="3256533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Let’s say you want to predict some output value y, for some input value x. For example, we would like to predict the fuel economy of a car based on the gear engaged and the speed of the car. To use any machine leaning approach, we first need some data. Let’s say for last 3 test drives, we recorded the gear, the speed and the fuel economy.  Now that you have some data, we are going to train the model to predict the fuel economy based on the </a:t>
            </a:r>
            <a:r>
              <a:rPr lang="en-IN" dirty="0" err="1"/>
              <a:t>the</a:t>
            </a:r>
            <a:r>
              <a:rPr lang="en-IN" dirty="0"/>
              <a:t> gear that is engaged and what speed you drive. This is a supervised regression problem. It is supervised because it has inputs and outputs. And it is a regression problem because we are predicting the mileage which is a continuous output. If we were asked to predict not the mileage but just labels like good, normal or bad mileage, then it would be a classification. Now, there are many algorithms that we know – like SVM, Random Forests, Classification &amp; Regression Trees. Today let us look at Artificial Neural Network. These are based on how the brain works, and they were found to be really good in classifying images, NLP. But before we feed in the data to the algorithm, we need to account for the differences in the units of data. This is because the ANN are not smart enough to understand the units of data. Hence we need to scale the data. We divide each variable value with the max value of that variable such that all the values remain between 0 and 1.  Now we can build our NN. We need two inputs and one output because these are the dimensions of our data. So, we have input layer and output layer. Any layer between our input and output layers are called Hidden layers. Recent trend is build NN with many hidden layers which are know as Deep Belief Network which is part of Deep Learning. Here, we are going to use one hidden layer with three hidden units. </a:t>
            </a:r>
          </a:p>
          <a:p>
            <a:endParaRPr lang="en-IN" dirty="0"/>
          </a:p>
          <a:p>
            <a:endParaRPr lang="en-IN" dirty="0"/>
          </a:p>
          <a:p>
            <a:r>
              <a:rPr lang="en-IN" dirty="0"/>
              <a:t>Bias represents neurons activation threshold</a:t>
            </a:r>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4</a:t>
            </a:fld>
            <a:endParaRPr lang="en-US"/>
          </a:p>
        </p:txBody>
      </p:sp>
    </p:spTree>
    <p:extLst>
      <p:ext uri="{BB962C8B-B14F-4D97-AF65-F5344CB8AC3E}">
        <p14:creationId xmlns:p14="http://schemas.microsoft.com/office/powerpoint/2010/main" val="3433738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Synapses have a very simple job. They take an input value, multiply it with the weight and output the result.  What neurons do is add the outputs of all the synapses and apply an activation </a:t>
            </a:r>
            <a:r>
              <a:rPr lang="en-IN" dirty="0" err="1"/>
              <a:t>fucntion</a:t>
            </a:r>
            <a:endParaRPr lang="en-IN" dirty="0"/>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5</a:t>
            </a:fld>
            <a:endParaRPr lang="en-US"/>
          </a:p>
        </p:txBody>
      </p:sp>
    </p:spTree>
    <p:extLst>
      <p:ext uri="{BB962C8B-B14F-4D97-AF65-F5344CB8AC3E}">
        <p14:creationId xmlns:p14="http://schemas.microsoft.com/office/powerpoint/2010/main" val="3968397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Synapses have a very simple job. They take an input value, multiply it with the weight and output the result.  What neurons do is add the outputs from all their synapses and apply an activation function</a:t>
            </a:r>
          </a:p>
          <a:p>
            <a:endParaRPr lang="en-IN" dirty="0"/>
          </a:p>
          <a:p>
            <a:r>
              <a:rPr lang="en-IN" dirty="0"/>
              <a:t>https://www.youtube.com/watch?v=bxe2T-V8XRs</a:t>
            </a:r>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6</a:t>
            </a:fld>
            <a:endParaRPr lang="en-US"/>
          </a:p>
        </p:txBody>
      </p:sp>
    </p:spTree>
    <p:extLst>
      <p:ext uri="{BB962C8B-B14F-4D97-AF65-F5344CB8AC3E}">
        <p14:creationId xmlns:p14="http://schemas.microsoft.com/office/powerpoint/2010/main" val="1498800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Hyper parameters</a:t>
            </a:r>
          </a:p>
          <a:p>
            <a:pPr marL="228600" indent="-228600">
              <a:buAutoNum type="arabicParenR"/>
            </a:pPr>
            <a:r>
              <a:rPr lang="en-IN" dirty="0"/>
              <a:t>Input – 2</a:t>
            </a:r>
          </a:p>
          <a:p>
            <a:pPr marL="228600" indent="-228600">
              <a:buAutoNum type="arabicParenR"/>
            </a:pPr>
            <a:r>
              <a:rPr lang="en-IN" dirty="0"/>
              <a:t>Hidden – 3</a:t>
            </a:r>
          </a:p>
          <a:p>
            <a:pPr marL="228600" indent="-228600">
              <a:buAutoNum type="arabicParenR"/>
            </a:pPr>
            <a:r>
              <a:rPr lang="en-IN" dirty="0"/>
              <a:t>Output – 1</a:t>
            </a:r>
          </a:p>
          <a:p>
            <a:pPr marL="228600" indent="-228600">
              <a:buAutoNum type="arabicParenR"/>
            </a:pPr>
            <a:endParaRPr lang="en-IN" dirty="0"/>
          </a:p>
          <a:p>
            <a:pPr marL="0" indent="0">
              <a:buNone/>
            </a:pPr>
            <a:r>
              <a:rPr lang="en-IN" dirty="0"/>
              <a:t>The structure is fixed with Hyperparameters – as the algorithm is not capable of deciding. We must do it before we start training. What NN do learn are the parameters specifically the weights on the Synapses</a:t>
            </a:r>
          </a:p>
          <a:p>
            <a:pPr marL="0" indent="0">
              <a:buNone/>
            </a:pPr>
            <a:endParaRPr lang="en-IN" dirty="0"/>
          </a:p>
          <a:p>
            <a:r>
              <a:rPr lang="en-IN" sz="1200" b="0" i="0" kern="1200" dirty="0">
                <a:solidFill>
                  <a:schemeClr val="tx1"/>
                </a:solidFill>
                <a:effectLst/>
                <a:latin typeface="Arial" charset="0"/>
                <a:ea typeface="+mn-ea"/>
                <a:cs typeface="+mn-cs"/>
              </a:rPr>
              <a:t>If the NN is a </a:t>
            </a:r>
            <a:r>
              <a:rPr lang="en-IN" sz="1200" b="0" i="0" kern="1200" dirty="0" err="1">
                <a:solidFill>
                  <a:schemeClr val="tx1"/>
                </a:solidFill>
                <a:effectLst/>
                <a:latin typeface="Arial" charset="0"/>
                <a:ea typeface="+mn-ea"/>
                <a:cs typeface="+mn-cs"/>
              </a:rPr>
              <a:t>regressor</a:t>
            </a:r>
            <a:r>
              <a:rPr lang="en-IN" sz="1200" b="0" i="0" kern="1200" dirty="0">
                <a:solidFill>
                  <a:schemeClr val="tx1"/>
                </a:solidFill>
                <a:effectLst/>
                <a:latin typeface="Arial" charset="0"/>
                <a:ea typeface="+mn-ea"/>
                <a:cs typeface="+mn-cs"/>
              </a:rPr>
              <a:t>, then the output layer has a single node.</a:t>
            </a:r>
          </a:p>
          <a:p>
            <a:r>
              <a:rPr lang="en-IN" sz="1200" b="0" i="0" kern="1200" dirty="0">
                <a:solidFill>
                  <a:schemeClr val="tx1"/>
                </a:solidFill>
                <a:effectLst/>
                <a:latin typeface="Arial" charset="0"/>
                <a:ea typeface="+mn-ea"/>
                <a:cs typeface="+mn-cs"/>
              </a:rPr>
              <a:t>If the NN is a classifier, then it also has a single node unless </a:t>
            </a:r>
            <a:r>
              <a:rPr lang="en-IN" sz="1200" b="0" i="1" kern="1200" dirty="0" err="1">
                <a:solidFill>
                  <a:schemeClr val="tx1"/>
                </a:solidFill>
                <a:effectLst/>
                <a:latin typeface="Arial" charset="0"/>
                <a:ea typeface="+mn-ea"/>
                <a:cs typeface="+mn-cs"/>
              </a:rPr>
              <a:t>softmax</a:t>
            </a:r>
            <a:r>
              <a:rPr lang="en-IN" sz="1200" b="0" i="0" kern="1200" dirty="0">
                <a:solidFill>
                  <a:schemeClr val="tx1"/>
                </a:solidFill>
                <a:effectLst/>
                <a:latin typeface="Arial" charset="0"/>
                <a:ea typeface="+mn-ea"/>
                <a:cs typeface="+mn-cs"/>
              </a:rPr>
              <a:t> is used in which case the output layer has one node per class label in your model.</a:t>
            </a:r>
          </a:p>
          <a:p>
            <a:pPr marL="0" indent="0">
              <a:buNone/>
            </a:pPr>
            <a:endParaRPr lang="en-IN" dirty="0"/>
          </a:p>
        </p:txBody>
      </p:sp>
      <p:sp>
        <p:nvSpPr>
          <p:cNvPr id="4" name="Slide Number Placeholder 3"/>
          <p:cNvSpPr>
            <a:spLocks noGrp="1"/>
          </p:cNvSpPr>
          <p:nvPr>
            <p:ph type="sldNum" sz="quarter" idx="10"/>
          </p:nvPr>
        </p:nvSpPr>
        <p:spPr/>
        <p:txBody>
          <a:bodyPr/>
          <a:lstStyle/>
          <a:p>
            <a:pPr>
              <a:defRPr/>
            </a:pPr>
            <a:fld id="{35648293-2628-4091-BED1-7FD9F7535785}" type="slidenum">
              <a:rPr lang="en-US" smtClean="0"/>
              <a:pPr>
                <a:defRPr/>
              </a:pPr>
              <a:t>7</a:t>
            </a:fld>
            <a:endParaRPr lang="en-US"/>
          </a:p>
        </p:txBody>
      </p:sp>
    </p:spTree>
    <p:extLst>
      <p:ext uri="{BB962C8B-B14F-4D97-AF65-F5344CB8AC3E}">
        <p14:creationId xmlns:p14="http://schemas.microsoft.com/office/powerpoint/2010/main" val="359041901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1.png"/><Relationship Id="rId5" Type="http://schemas.openxmlformats.org/officeDocument/2006/relationships/image" Target="../media/image7.png"/><Relationship Id="rId10" Type="http://schemas.openxmlformats.org/officeDocument/2006/relationships/image" Target="../media/image2.png"/><Relationship Id="rId4" Type="http://schemas.openxmlformats.org/officeDocument/2006/relationships/image" Target="../media/image6.png"/><Relationship Id="rId9"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www.facebook.com/intl.school.engineering" TargetMode="External"/><Relationship Id="rId2" Type="http://schemas.openxmlformats.org/officeDocument/2006/relationships/hyperlink" Target="http://www.inse.edu.in/" TargetMode="External"/><Relationship Id="rId1" Type="http://schemas.openxmlformats.org/officeDocument/2006/relationships/slideMaster" Target="../slideMasters/slideMaster2.xml"/><Relationship Id="rId6" Type="http://schemas.openxmlformats.org/officeDocument/2006/relationships/hyperlink" Target="http://www.slideshare.net/INSOFE" TargetMode="External"/><Relationship Id="rId5" Type="http://schemas.openxmlformats.org/officeDocument/2006/relationships/hyperlink" Target="http://www.youtube.com/InsofeVideos" TargetMode="External"/><Relationship Id="rId4" Type="http://schemas.openxmlformats.org/officeDocument/2006/relationships/hyperlink" Target="https://twitter.com/IntlSchEngg"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2059" name="Picture 11"/>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0500" y="1066800"/>
            <a:ext cx="42291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63"/>
          <p:cNvSpPr txBox="1">
            <a:spLocks noChangeArrowheads="1"/>
          </p:cNvSpPr>
          <p:nvPr userDrawn="1"/>
        </p:nvSpPr>
        <p:spPr bwMode="auto">
          <a:xfrm>
            <a:off x="4610100" y="2750277"/>
            <a:ext cx="460216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2000" b="1" dirty="0">
                <a:solidFill>
                  <a:schemeClr val="bg2"/>
                </a:solidFill>
                <a:latin typeface="Arial" pitchFamily="34" charset="0"/>
                <a:cs typeface="Arial" pitchFamily="34" charset="0"/>
              </a:rPr>
              <a:t>Inspire…Educate…Transform.</a:t>
            </a:r>
          </a:p>
        </p:txBody>
      </p:sp>
      <p:grpSp>
        <p:nvGrpSpPr>
          <p:cNvPr id="3" name="Group 2"/>
          <p:cNvGrpSpPr/>
          <p:nvPr userDrawn="1"/>
        </p:nvGrpSpPr>
        <p:grpSpPr>
          <a:xfrm>
            <a:off x="4381500" y="2133600"/>
            <a:ext cx="152400" cy="1752600"/>
            <a:chOff x="5108634" y="2674938"/>
            <a:chExt cx="152400" cy="1752600"/>
          </a:xfrm>
        </p:grpSpPr>
        <p:sp>
          <p:nvSpPr>
            <p:cNvPr id="8" name="Line 64"/>
            <p:cNvSpPr>
              <a:spLocks noChangeShapeType="1"/>
            </p:cNvSpPr>
            <p:nvPr userDrawn="1"/>
          </p:nvSpPr>
          <p:spPr bwMode="auto">
            <a:xfrm>
              <a:off x="5108634" y="2674938"/>
              <a:ext cx="0" cy="1752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65"/>
            <p:cNvSpPr>
              <a:spLocks noChangeShapeType="1"/>
            </p:cNvSpPr>
            <p:nvPr userDrawn="1"/>
          </p:nvSpPr>
          <p:spPr bwMode="auto">
            <a:xfrm>
              <a:off x="5261034" y="2903538"/>
              <a:ext cx="0" cy="1219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 name="Group 1"/>
          <p:cNvGrpSpPr/>
          <p:nvPr userDrawn="1"/>
        </p:nvGrpSpPr>
        <p:grpSpPr>
          <a:xfrm>
            <a:off x="493428" y="1177160"/>
            <a:ext cx="3578509" cy="3402747"/>
            <a:chOff x="722028" y="1720116"/>
            <a:chExt cx="3578509" cy="3402747"/>
          </a:xfrm>
        </p:grpSpPr>
        <p:pic>
          <p:nvPicPr>
            <p:cNvPr id="2052" name="Picture 4"/>
            <p:cNvPicPr>
              <a:picLocks noChangeAspect="1" noChangeArrowheads="1"/>
            </p:cNvPicPr>
            <p:nvPr userDrawn="1"/>
          </p:nvPicPr>
          <p:blipFill>
            <a:blip r:embed="rId3" cstate="email">
              <a:extLst>
                <a:ext uri="{28A0092B-C50C-407E-A947-70E740481C1C}">
                  <a14:useLocalDpi xmlns:a14="http://schemas.microsoft.com/office/drawing/2010/main" val="0"/>
                </a:ext>
              </a:extLst>
            </a:blip>
            <a:srcRect/>
            <a:stretch>
              <a:fillRect/>
            </a:stretch>
          </p:blipFill>
          <p:spPr bwMode="auto">
            <a:xfrm>
              <a:off x="2247900" y="4267200"/>
              <a:ext cx="1284287" cy="85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userDrawn="1"/>
          </p:nvPicPr>
          <p:blipFill>
            <a:blip r:embed="rId4" cstate="email">
              <a:extLst>
                <a:ext uri="{28A0092B-C50C-407E-A947-70E740481C1C}">
                  <a14:useLocalDpi xmlns:a14="http://schemas.microsoft.com/office/drawing/2010/main" val="0"/>
                </a:ext>
              </a:extLst>
            </a:blip>
            <a:srcRect/>
            <a:stretch>
              <a:fillRect/>
            </a:stretch>
          </p:blipFill>
          <p:spPr bwMode="auto">
            <a:xfrm>
              <a:off x="722028" y="3293233"/>
              <a:ext cx="1284287" cy="85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userDrawn="1"/>
          </p:nvPicPr>
          <p:blipFill>
            <a:blip r:embed="rId5" cstate="email">
              <a:extLst>
                <a:ext uri="{28A0092B-C50C-407E-A947-70E740481C1C}">
                  <a14:useLocalDpi xmlns:a14="http://schemas.microsoft.com/office/drawing/2010/main" val="0"/>
                </a:ext>
              </a:extLst>
            </a:blip>
            <a:srcRect/>
            <a:stretch>
              <a:fillRect/>
            </a:stretch>
          </p:blipFill>
          <p:spPr bwMode="auto">
            <a:xfrm>
              <a:off x="2247900" y="3284633"/>
              <a:ext cx="1284287" cy="85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userDrawn="1"/>
          </p:nvPicPr>
          <p:blipFill>
            <a:blip r:embed="rId6" cstate="email">
              <a:extLst>
                <a:ext uri="{28A0092B-C50C-407E-A947-70E740481C1C}">
                  <a14:useLocalDpi xmlns:a14="http://schemas.microsoft.com/office/drawing/2010/main" val="0"/>
                </a:ext>
              </a:extLst>
            </a:blip>
            <a:srcRect/>
            <a:stretch>
              <a:fillRect/>
            </a:stretch>
          </p:blipFill>
          <p:spPr bwMode="auto">
            <a:xfrm>
              <a:off x="2247900" y="1720116"/>
              <a:ext cx="2052637"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userDrawn="1"/>
          </p:nvPicPr>
          <p:blipFill>
            <a:blip r:embed="rId7" cstate="email">
              <a:extLst>
                <a:ext uri="{28A0092B-C50C-407E-A947-70E740481C1C}">
                  <a14:useLocalDpi xmlns:a14="http://schemas.microsoft.com/office/drawing/2010/main" val="0"/>
                </a:ext>
              </a:extLst>
            </a:blip>
            <a:srcRect/>
            <a:stretch>
              <a:fillRect/>
            </a:stretch>
          </p:blipFill>
          <p:spPr bwMode="auto">
            <a:xfrm>
              <a:off x="722028" y="4267200"/>
              <a:ext cx="1284287" cy="85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8" name="Picture 10"/>
            <p:cNvPicPr>
              <a:picLocks noChangeAspect="1" noChangeArrowheads="1"/>
            </p:cNvPicPr>
            <p:nvPr userDrawn="1"/>
          </p:nvPicPr>
          <p:blipFill>
            <a:blip r:embed="rId8" cstate="email">
              <a:extLst>
                <a:ext uri="{28A0092B-C50C-407E-A947-70E740481C1C}">
                  <a14:useLocalDpi xmlns:a14="http://schemas.microsoft.com/office/drawing/2010/main" val="0"/>
                </a:ext>
              </a:extLst>
            </a:blip>
            <a:srcRect/>
            <a:stretch>
              <a:fillRect/>
            </a:stretch>
          </p:blipFill>
          <p:spPr bwMode="auto">
            <a:xfrm>
              <a:off x="722028" y="2236053"/>
              <a:ext cx="1284287" cy="85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6" name="Picture 6" descr="saffron.jpg"/>
          <p:cNvPicPr>
            <a:picLocks noChangeAspect="1"/>
          </p:cNvPicPr>
          <p:nvPr userDrawn="1"/>
        </p:nvPicPr>
        <p:blipFill>
          <a:blip r:embed="rId9">
            <a:extLst>
              <a:ext uri="{28A0092B-C50C-407E-A947-70E740481C1C}">
                <a14:useLocalDpi xmlns:a14="http://schemas.microsoft.com/office/drawing/2010/main" val="0"/>
              </a:ext>
            </a:extLst>
          </a:blip>
          <a:srcRect/>
          <a:stretch>
            <a:fillRect/>
          </a:stretch>
        </p:blipFill>
        <p:spPr bwMode="auto">
          <a:xfrm flipV="1">
            <a:off x="-14464" y="1270000"/>
            <a:ext cx="63500" cy="535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0224932" y="0"/>
            <a:ext cx="71023" cy="5279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Rectangle 18"/>
          <p:cNvSpPr>
            <a:spLocks noChangeArrowheads="1"/>
          </p:cNvSpPr>
          <p:nvPr userDrawn="1"/>
        </p:nvSpPr>
        <p:spPr bwMode="auto">
          <a:xfrm>
            <a:off x="-14464" y="6589713"/>
            <a:ext cx="10301464" cy="268287"/>
          </a:xfrm>
          <a:prstGeom prst="rect">
            <a:avLst/>
          </a:prstGeom>
          <a:solidFill>
            <a:srgbClr val="FF6600"/>
          </a:solidFill>
          <a:ln>
            <a:noFill/>
          </a:ln>
          <a:extLst/>
        </p:spPr>
        <p:txBody>
          <a:bodyPr wrap="none" anchor="ctr"/>
          <a:lstStyle/>
          <a:p>
            <a:pPr algn="just" eaLnBrk="0" hangingPunct="0"/>
            <a:endParaRPr lang="en-US" sz="1200" dirty="0">
              <a:solidFill>
                <a:schemeClr val="bg1"/>
              </a:solidFill>
              <a:latin typeface="Verdana" pitchFamily="34" charset="0"/>
              <a:cs typeface="Arial" charset="0"/>
            </a:endParaRPr>
          </a:p>
        </p:txBody>
      </p:sp>
      <p:sp>
        <p:nvSpPr>
          <p:cNvPr id="21" name="TextBox 20"/>
          <p:cNvSpPr txBox="1"/>
          <p:nvPr userDrawn="1"/>
        </p:nvSpPr>
        <p:spPr>
          <a:xfrm>
            <a:off x="29447" y="6604084"/>
            <a:ext cx="10228107" cy="276999"/>
          </a:xfrm>
          <a:prstGeom prst="rect">
            <a:avLst/>
          </a:prstGeom>
          <a:noFill/>
        </p:spPr>
        <p:txBody>
          <a:bodyPr wrap="square" rtlCol="0">
            <a:spAutoFit/>
          </a:bodyPr>
          <a:lstStyle/>
          <a:p>
            <a:pPr algn="l"/>
            <a:r>
              <a:rPr lang="en-US" sz="1200" dirty="0">
                <a:ln>
                  <a:noFill/>
                </a:ln>
                <a:solidFill>
                  <a:schemeClr val="bg1"/>
                </a:solidFill>
              </a:rPr>
              <a:t>The best place for students</a:t>
            </a:r>
            <a:r>
              <a:rPr lang="en-US" sz="1200" baseline="0" dirty="0">
                <a:ln>
                  <a:noFill/>
                </a:ln>
                <a:solidFill>
                  <a:schemeClr val="bg1"/>
                </a:solidFill>
              </a:rPr>
              <a:t> to learn Applied Engineering 					http://www.insofe.edu.in</a:t>
            </a:r>
            <a:endParaRPr lang="en-US" sz="1200" dirty="0">
              <a:ln>
                <a:noFill/>
              </a:ln>
              <a:solidFill>
                <a:schemeClr val="bg1"/>
              </a:solidFill>
            </a:endParaRPr>
          </a:p>
        </p:txBody>
      </p:sp>
      <p:pic>
        <p:nvPicPr>
          <p:cNvPr id="5" name="Picture 4"/>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7048500" y="76200"/>
            <a:ext cx="3117371" cy="954658"/>
          </a:xfrm>
          <a:prstGeom prst="rect">
            <a:avLst/>
          </a:prstGeom>
        </p:spPr>
      </p:pic>
    </p:spTree>
    <p:extLst>
      <p:ext uri="{BB962C8B-B14F-4D97-AF65-F5344CB8AC3E}">
        <p14:creationId xmlns:p14="http://schemas.microsoft.com/office/powerpoint/2010/main" val="1207005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atin typeface="Arial"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Verdana" pitchFamily="34" charset="0"/>
                <a:ea typeface="Verdana" pitchFamily="34" charset="0"/>
                <a:cs typeface="Verdana" pitchFamily="34" charset="0"/>
              </a:defRPr>
            </a:lvl1pPr>
            <a:lvl2pPr>
              <a:defRPr>
                <a:latin typeface="Verdana" pitchFamily="34" charset="0"/>
                <a:ea typeface="Verdana" pitchFamily="34" charset="0"/>
                <a:cs typeface="Verdana" pitchFamily="34" charset="0"/>
              </a:defRPr>
            </a:lvl2pPr>
            <a:lvl3pPr>
              <a:defRPr>
                <a:latin typeface="Verdana" pitchFamily="34" charset="0"/>
                <a:ea typeface="Verdana" pitchFamily="34" charset="0"/>
                <a:cs typeface="Verdana" pitchFamily="34" charset="0"/>
              </a:defRPr>
            </a:lvl3pPr>
            <a:lvl4pPr>
              <a:defRPr>
                <a:latin typeface="Verdana" pitchFamily="34" charset="0"/>
                <a:ea typeface="Verdana" pitchFamily="34" charset="0"/>
                <a:cs typeface="Verdana" pitchFamily="34" charset="0"/>
              </a:defRPr>
            </a:lvl4pPr>
            <a:lvl5pPr>
              <a:defRPr>
                <a:latin typeface="Verdana" pitchFamily="34" charset="0"/>
                <a:ea typeface="Verdana" pitchFamily="34" charset="0"/>
                <a:cs typeface="Verdan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19999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0" y="4406900"/>
            <a:ext cx="8743950" cy="1362075"/>
          </a:xfrm>
        </p:spPr>
        <p:txBody>
          <a:bodyPr anchor="t"/>
          <a:lstStyle>
            <a:lvl1pPr algn="l">
              <a:defRPr sz="3200" b="1" cap="all"/>
            </a:lvl1pPr>
          </a:lstStyle>
          <a:p>
            <a:r>
              <a:rPr lang="en-US" dirty="0"/>
              <a:t>Click to edit Master title style</a:t>
            </a:r>
          </a:p>
        </p:txBody>
      </p:sp>
      <p:sp>
        <p:nvSpPr>
          <p:cNvPr id="3" name="Text Placeholder 2"/>
          <p:cNvSpPr>
            <a:spLocks noGrp="1"/>
          </p:cNvSpPr>
          <p:nvPr>
            <p:ph type="body" idx="1"/>
          </p:nvPr>
        </p:nvSpPr>
        <p:spPr>
          <a:xfrm>
            <a:off x="812800" y="2906713"/>
            <a:ext cx="874395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Tree>
    <p:extLst>
      <p:ext uri="{BB962C8B-B14F-4D97-AF65-F5344CB8AC3E}">
        <p14:creationId xmlns:p14="http://schemas.microsoft.com/office/powerpoint/2010/main" val="757638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514350" y="1600200"/>
            <a:ext cx="45529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219700" y="1600200"/>
            <a:ext cx="45529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71527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14350" y="274638"/>
            <a:ext cx="92583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514350" y="1535113"/>
            <a:ext cx="454501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14350" y="2174875"/>
            <a:ext cx="454501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26050" y="1535113"/>
            <a:ext cx="454660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226050" y="2174875"/>
            <a:ext cx="4546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7829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3580842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9367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0" y="273050"/>
            <a:ext cx="3384550"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022725" y="273050"/>
            <a:ext cx="574992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4350" y="1435100"/>
            <a:ext cx="338455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51582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16125" y="4800600"/>
            <a:ext cx="61722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2016125" y="612775"/>
            <a:ext cx="6172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016125" y="5367338"/>
            <a:ext cx="6172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28746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7013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77113" y="152400"/>
            <a:ext cx="2395537" cy="5973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90500" y="152400"/>
            <a:ext cx="7034213" cy="5973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7002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p:nvPr userDrawn="1"/>
        </p:nvSpPr>
        <p:spPr>
          <a:xfrm>
            <a:off x="190500" y="1574800"/>
            <a:ext cx="9753600" cy="984885"/>
          </a:xfrm>
          <a:prstGeom prst="rect">
            <a:avLst/>
          </a:prstGeom>
        </p:spPr>
        <p:txBody>
          <a:bodyPr wrap="square">
            <a:spAutoFit/>
          </a:bodyPr>
          <a:lstStyle/>
          <a:p>
            <a:pPr algn="ctr"/>
            <a:r>
              <a:rPr lang="en-US" sz="2000" b="1" dirty="0">
                <a:latin typeface="Verdana" pitchFamily="34" charset="0"/>
                <a:ea typeface="Verdana" pitchFamily="34" charset="0"/>
                <a:cs typeface="Verdana" pitchFamily="34" charset="0"/>
              </a:rPr>
              <a:t>International School of Engineering</a:t>
            </a:r>
          </a:p>
          <a:p>
            <a:pPr algn="ctr"/>
            <a:endParaRPr lang="en-US" sz="2000" b="1" dirty="0">
              <a:latin typeface="Verdana" pitchFamily="34" charset="0"/>
              <a:ea typeface="Verdana" pitchFamily="34" charset="0"/>
              <a:cs typeface="Verdana" pitchFamily="34" charset="0"/>
            </a:endParaRPr>
          </a:p>
          <a:p>
            <a:pPr algn="ctr"/>
            <a:r>
              <a:rPr lang="en-IN" dirty="0">
                <a:latin typeface="Verdana" pitchFamily="34" charset="0"/>
                <a:ea typeface="Verdana" pitchFamily="34" charset="0"/>
                <a:cs typeface="Verdana" pitchFamily="34" charset="0"/>
              </a:rPr>
              <a:t>The Oval, Level 2, </a:t>
            </a:r>
            <a:r>
              <a:rPr lang="en-IN" dirty="0" err="1">
                <a:latin typeface="Verdana" pitchFamily="34" charset="0"/>
                <a:ea typeface="Verdana" pitchFamily="34" charset="0"/>
                <a:cs typeface="Verdana" pitchFamily="34" charset="0"/>
              </a:rPr>
              <a:t>iLabs</a:t>
            </a:r>
            <a:r>
              <a:rPr lang="en-IN" dirty="0">
                <a:latin typeface="Verdana" pitchFamily="34" charset="0"/>
                <a:ea typeface="Verdana" pitchFamily="34" charset="0"/>
                <a:cs typeface="Verdana" pitchFamily="34" charset="0"/>
              </a:rPr>
              <a:t> Centre, Plot No. 18, </a:t>
            </a:r>
            <a:r>
              <a:rPr lang="en-IN" dirty="0" err="1">
                <a:latin typeface="Verdana" pitchFamily="34" charset="0"/>
                <a:ea typeface="Verdana" pitchFamily="34" charset="0"/>
                <a:cs typeface="Verdana" pitchFamily="34" charset="0"/>
              </a:rPr>
              <a:t>Madhapur</a:t>
            </a:r>
            <a:r>
              <a:rPr lang="en-IN" dirty="0">
                <a:latin typeface="Verdana" pitchFamily="34" charset="0"/>
                <a:ea typeface="Verdana" pitchFamily="34" charset="0"/>
                <a:cs typeface="Verdana" pitchFamily="34" charset="0"/>
              </a:rPr>
              <a:t>, Hyderabad - 500 081 </a:t>
            </a:r>
          </a:p>
        </p:txBody>
      </p:sp>
      <p:graphicFrame>
        <p:nvGraphicFramePr>
          <p:cNvPr id="3" name="Table 2"/>
          <p:cNvGraphicFramePr>
            <a:graphicFrameLocks noGrp="1"/>
          </p:cNvGraphicFramePr>
          <p:nvPr userDrawn="1">
            <p:extLst>
              <p:ext uri="{D42A27DB-BD31-4B8C-83A1-F6EECF244321}">
                <p14:modId xmlns:p14="http://schemas.microsoft.com/office/powerpoint/2010/main" val="57948134"/>
              </p:ext>
            </p:extLst>
          </p:nvPr>
        </p:nvGraphicFramePr>
        <p:xfrm>
          <a:off x="1447800" y="2717800"/>
          <a:ext cx="7239000" cy="741680"/>
        </p:xfrm>
        <a:graphic>
          <a:graphicData uri="http://schemas.openxmlformats.org/drawingml/2006/table">
            <a:tbl>
              <a:tblPr>
                <a:tableStyleId>{2D5ABB26-0587-4C30-8999-92F81FD0307C}</a:tableStyleId>
              </a:tblPr>
              <a:tblGrid>
                <a:gridCol w="2743200">
                  <a:extLst>
                    <a:ext uri="{9D8B030D-6E8A-4147-A177-3AD203B41FA5}">
                      <a16:colId xmlns:a16="http://schemas.microsoft.com/office/drawing/2014/main" val="20000"/>
                    </a:ext>
                  </a:extLst>
                </a:gridCol>
                <a:gridCol w="4495800">
                  <a:extLst>
                    <a:ext uri="{9D8B030D-6E8A-4147-A177-3AD203B41FA5}">
                      <a16:colId xmlns:a16="http://schemas.microsoft.com/office/drawing/2014/main" val="20001"/>
                    </a:ext>
                  </a:extLst>
                </a:gridCol>
              </a:tblGrid>
              <a:tr h="370840">
                <a:tc>
                  <a:txBody>
                    <a:bodyPr/>
                    <a:lstStyle/>
                    <a:p>
                      <a:pPr algn="r"/>
                      <a:r>
                        <a:rPr lang="en-US" sz="1800" b="0" dirty="0"/>
                        <a:t>For Individuals:</a:t>
                      </a:r>
                    </a:p>
                  </a:txBody>
                  <a:tcPr>
                    <a:lnL>
                      <a:noFill/>
                    </a:lnL>
                    <a:lnR>
                      <a:noFill/>
                    </a:lnR>
                    <a:lnT>
                      <a:noFill/>
                    </a:lnT>
                    <a:lnB>
                      <a:noFill/>
                    </a:lnB>
                    <a:lnTlToBr w="12700" cmpd="sng">
                      <a:noFill/>
                      <a:prstDash val="solid"/>
                    </a:lnTlToBr>
                    <a:lnBlToTr w="12700" cmpd="sng">
                      <a:noFill/>
                      <a:prstDash val="solid"/>
                    </a:lnBlToTr>
                  </a:tcPr>
                </a:tc>
                <a:tc>
                  <a:txBody>
                    <a:bodyPr/>
                    <a:lstStyle/>
                    <a:p>
                      <a:r>
                        <a:rPr lang="en-US" sz="1800" b="0" dirty="0"/>
                        <a:t>+91-9177585755 or 040-65743991</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algn="r"/>
                      <a:r>
                        <a:rPr lang="en-US" sz="1800" b="0" dirty="0"/>
                        <a:t>For Corporates:</a:t>
                      </a:r>
                    </a:p>
                  </a:txBody>
                  <a:tcPr>
                    <a:lnL>
                      <a:noFill/>
                    </a:lnL>
                    <a:lnR>
                      <a:noFill/>
                    </a:lnR>
                    <a:lnT>
                      <a:noFill/>
                    </a:lnT>
                    <a:lnB>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t>+91-7893866005</a:t>
                      </a:r>
                      <a:endParaRPr lang="en-US" sz="1800" b="0" dirty="0">
                        <a:latin typeface="Verdana" pitchFamily="34" charset="0"/>
                        <a:ea typeface="Verdana" pitchFamily="34" charset="0"/>
                        <a:cs typeface="Verdana" pitchFamily="34"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graphicFrame>
        <p:nvGraphicFramePr>
          <p:cNvPr id="4" name="Table 3"/>
          <p:cNvGraphicFramePr>
            <a:graphicFrameLocks noGrp="1"/>
          </p:cNvGraphicFramePr>
          <p:nvPr userDrawn="1">
            <p:extLst>
              <p:ext uri="{D42A27DB-BD31-4B8C-83A1-F6EECF244321}">
                <p14:modId xmlns:p14="http://schemas.microsoft.com/office/powerpoint/2010/main" val="3979537793"/>
              </p:ext>
            </p:extLst>
          </p:nvPr>
        </p:nvGraphicFramePr>
        <p:xfrm>
          <a:off x="2476500" y="3708400"/>
          <a:ext cx="7200900" cy="1854200"/>
        </p:xfrm>
        <a:graphic>
          <a:graphicData uri="http://schemas.openxmlformats.org/drawingml/2006/table">
            <a:tbl>
              <a:tblPr>
                <a:tableStyleId>{2D5ABB26-0587-4C30-8999-92F81FD0307C}</a:tableStyleId>
              </a:tblPr>
              <a:tblGrid>
                <a:gridCol w="1677880">
                  <a:extLst>
                    <a:ext uri="{9D8B030D-6E8A-4147-A177-3AD203B41FA5}">
                      <a16:colId xmlns:a16="http://schemas.microsoft.com/office/drawing/2014/main" val="20000"/>
                    </a:ext>
                  </a:extLst>
                </a:gridCol>
                <a:gridCol w="5523020">
                  <a:extLst>
                    <a:ext uri="{9D8B030D-6E8A-4147-A177-3AD203B41FA5}">
                      <a16:colId xmlns:a16="http://schemas.microsoft.com/office/drawing/2014/main" val="20001"/>
                    </a:ext>
                  </a:extLst>
                </a:gridCol>
              </a:tblGrid>
              <a:tr h="370840">
                <a:tc>
                  <a:txBody>
                    <a:bodyPr/>
                    <a:lstStyle/>
                    <a:p>
                      <a:pPr algn="r"/>
                      <a:r>
                        <a:rPr lang="en-IN" dirty="0">
                          <a:solidFill>
                            <a:schemeClr val="tx1"/>
                          </a:solidFill>
                        </a:rPr>
                        <a:t>Web:</a:t>
                      </a:r>
                      <a:endParaRPr lang="en-US" b="0" dirty="0">
                        <a:solidFill>
                          <a:schemeClr val="tx1"/>
                        </a:solidFill>
                      </a:endParaRPr>
                    </a:p>
                  </a:txBody>
                  <a:tcPr>
                    <a:lnL>
                      <a:noFill/>
                    </a:lnL>
                    <a:lnR>
                      <a:noFill/>
                    </a:lnR>
                    <a:lnT>
                      <a:noFill/>
                    </a:lnT>
                    <a:lnB>
                      <a:noFill/>
                    </a:lnB>
                    <a:lnTlToBr w="12700" cmpd="sng">
                      <a:noFill/>
                      <a:prstDash val="solid"/>
                    </a:lnTlToBr>
                    <a:lnBlToTr w="12700" cmpd="sng">
                      <a:noFill/>
                      <a:prstDash val="solid"/>
                    </a:lnBlToTr>
                  </a:tcPr>
                </a:tc>
                <a:tc>
                  <a:txBody>
                    <a:bodyPr/>
                    <a:lstStyle/>
                    <a:p>
                      <a:r>
                        <a:rPr lang="en-IN" dirty="0">
                          <a:solidFill>
                            <a:schemeClr val="tx1"/>
                          </a:solidFill>
                          <a:hlinkClick r:id="rId2"/>
                        </a:rPr>
                        <a:t>http://www.insofe.edu.in</a:t>
                      </a:r>
                      <a:endParaRPr lang="en-US" b="0" dirty="0">
                        <a:solidFill>
                          <a:schemeClr val="tx1"/>
                        </a:solidFill>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algn="r"/>
                      <a:r>
                        <a:rPr lang="en-IN" dirty="0">
                          <a:solidFill>
                            <a:schemeClr val="tx1"/>
                          </a:solidFill>
                        </a:rPr>
                        <a:t>Facebook:</a:t>
                      </a:r>
                      <a:endParaRPr lang="en-US" b="0" dirty="0">
                        <a:solidFill>
                          <a:schemeClr val="tx1"/>
                        </a:solidFill>
                      </a:endParaRPr>
                    </a:p>
                  </a:txBody>
                  <a:tcPr>
                    <a:lnL>
                      <a:noFill/>
                    </a:lnL>
                    <a:lnR>
                      <a:noFill/>
                    </a:lnR>
                    <a:lnT>
                      <a:noFill/>
                    </a:lnT>
                    <a:lnB>
                      <a:noFill/>
                    </a:lnB>
                    <a:lnTlToBr w="12700" cmpd="sng">
                      <a:noFill/>
                      <a:prstDash val="solid"/>
                    </a:lnTlToBr>
                    <a:lnBlToTr w="12700" cmpd="sng">
                      <a:noFill/>
                      <a:prstDash val="solid"/>
                    </a:lnBlToTr>
                  </a:tcPr>
                </a:tc>
                <a:tc>
                  <a:txBody>
                    <a:bodyPr/>
                    <a:lstStyle/>
                    <a:p>
                      <a:r>
                        <a:rPr lang="en-IN" dirty="0">
                          <a:solidFill>
                            <a:schemeClr val="tx1"/>
                          </a:solidFill>
                          <a:hlinkClick r:id="rId3"/>
                        </a:rPr>
                        <a:t>https://www.facebook.com/intl.school.engineering</a:t>
                      </a:r>
                      <a:endParaRPr lang="en-US" b="0" dirty="0">
                        <a:solidFill>
                          <a:schemeClr val="tx1"/>
                        </a:solidFill>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pPr algn="r"/>
                      <a:r>
                        <a:rPr lang="en-IN" dirty="0">
                          <a:solidFill>
                            <a:schemeClr val="tx1"/>
                          </a:solidFill>
                        </a:rPr>
                        <a:t>Twitter:</a:t>
                      </a:r>
                      <a:endParaRPr lang="en-US" b="0" dirty="0">
                        <a:solidFill>
                          <a:schemeClr val="tx1"/>
                        </a:solidFill>
                      </a:endParaRPr>
                    </a:p>
                  </a:txBody>
                  <a:tcPr>
                    <a:lnL>
                      <a:noFill/>
                    </a:lnL>
                    <a:lnR>
                      <a:noFill/>
                    </a:lnR>
                    <a:lnT>
                      <a:noFill/>
                    </a:lnT>
                    <a:lnB>
                      <a:noFill/>
                    </a:lnB>
                    <a:lnTlToBr w="12700" cmpd="sng">
                      <a:noFill/>
                      <a:prstDash val="solid"/>
                    </a:lnTlToBr>
                    <a:lnBlToTr w="12700" cmpd="sng">
                      <a:noFill/>
                      <a:prstDash val="solid"/>
                    </a:lnBlToTr>
                  </a:tcPr>
                </a:tc>
                <a:tc>
                  <a:txBody>
                    <a:bodyPr/>
                    <a:lstStyle/>
                    <a:p>
                      <a:r>
                        <a:rPr lang="en-IN" u="sng" dirty="0">
                          <a:solidFill>
                            <a:schemeClr val="tx1"/>
                          </a:solidFill>
                          <a:hlinkClick r:id="rId4"/>
                        </a:rPr>
                        <a:t>https://twitter.com/IntlSchEngg</a:t>
                      </a:r>
                      <a:endParaRPr lang="en-US" b="0" dirty="0">
                        <a:solidFill>
                          <a:schemeClr val="tx1"/>
                        </a:solidFill>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pPr algn="r"/>
                      <a:r>
                        <a:rPr lang="en-IN" dirty="0">
                          <a:solidFill>
                            <a:schemeClr val="tx1"/>
                          </a:solidFill>
                        </a:rPr>
                        <a:t>YouTube:</a:t>
                      </a:r>
                      <a:endParaRPr lang="en-US" b="0" dirty="0">
                        <a:solidFill>
                          <a:schemeClr val="tx1"/>
                        </a:solidFill>
                      </a:endParaRPr>
                    </a:p>
                  </a:txBody>
                  <a:tcPr>
                    <a:lnL>
                      <a:noFill/>
                    </a:lnL>
                    <a:lnR>
                      <a:noFill/>
                    </a:lnR>
                    <a:lnT>
                      <a:noFill/>
                    </a:lnT>
                    <a:lnB>
                      <a:noFill/>
                    </a:lnB>
                    <a:lnTlToBr w="12700" cmpd="sng">
                      <a:noFill/>
                      <a:prstDash val="solid"/>
                    </a:lnTlToBr>
                    <a:lnBlToTr w="12700" cmpd="sng">
                      <a:noFill/>
                      <a:prstDash val="solid"/>
                    </a:lnBlToTr>
                  </a:tcPr>
                </a:tc>
                <a:tc>
                  <a:txBody>
                    <a:bodyPr/>
                    <a:lstStyle/>
                    <a:p>
                      <a:r>
                        <a:rPr lang="en-IN" u="sng" dirty="0">
                          <a:solidFill>
                            <a:schemeClr val="tx1"/>
                          </a:solidFill>
                          <a:hlinkClick r:id="rId5"/>
                        </a:rPr>
                        <a:t>http://www.youtube.com/InsofeVideos</a:t>
                      </a:r>
                      <a:endParaRPr lang="en-US" b="0" dirty="0">
                        <a:solidFill>
                          <a:schemeClr val="tx1"/>
                        </a:solidFill>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70840">
                <a:tc>
                  <a:txBody>
                    <a:bodyPr/>
                    <a:lstStyle/>
                    <a:p>
                      <a:pPr algn="r"/>
                      <a:r>
                        <a:rPr lang="en-IN" dirty="0" err="1">
                          <a:solidFill>
                            <a:schemeClr val="tx1"/>
                          </a:solidFill>
                        </a:rPr>
                        <a:t>SlideShare</a:t>
                      </a:r>
                      <a:r>
                        <a:rPr lang="en-IN" dirty="0">
                          <a:solidFill>
                            <a:schemeClr val="tx1"/>
                          </a:solidFill>
                        </a:rPr>
                        <a:t>:</a:t>
                      </a:r>
                      <a:endParaRPr lang="en-US" b="0" dirty="0">
                        <a:solidFill>
                          <a:schemeClr val="tx1"/>
                        </a:solidFill>
                      </a:endParaRPr>
                    </a:p>
                  </a:txBody>
                  <a:tcPr>
                    <a:lnL>
                      <a:noFill/>
                    </a:lnL>
                    <a:lnR>
                      <a:noFill/>
                    </a:lnR>
                    <a:lnT>
                      <a:noFill/>
                    </a:lnT>
                    <a:lnB>
                      <a:noFill/>
                    </a:lnB>
                    <a:lnTlToBr w="12700" cmpd="sng">
                      <a:noFill/>
                      <a:prstDash val="solid"/>
                    </a:lnTlToBr>
                    <a:lnBlToTr w="12700" cmpd="sng">
                      <a:noFill/>
                      <a:prstDash val="solid"/>
                    </a:lnBlToTr>
                  </a:tcPr>
                </a:tc>
                <a:tc>
                  <a:txBody>
                    <a:bodyPr/>
                    <a:lstStyle/>
                    <a:p>
                      <a:r>
                        <a:rPr lang="en-IN" u="sng" dirty="0">
                          <a:solidFill>
                            <a:schemeClr val="tx1"/>
                          </a:solidFill>
                          <a:hlinkClick r:id="rId6"/>
                        </a:rPr>
                        <a:t>http://www.slideshare.net/INSOFE</a:t>
                      </a:r>
                      <a:endParaRPr lang="en-US" b="0" dirty="0">
                        <a:solidFill>
                          <a:schemeClr val="tx1"/>
                        </a:solidFill>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5" name="Text Box 4"/>
          <p:cNvSpPr txBox="1">
            <a:spLocks noChangeArrowheads="1"/>
          </p:cNvSpPr>
          <p:nvPr userDrawn="1"/>
        </p:nvSpPr>
        <p:spPr bwMode="auto">
          <a:xfrm>
            <a:off x="339725" y="6172200"/>
            <a:ext cx="9756775" cy="421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25000"/>
              </a:lnSpc>
              <a:spcBef>
                <a:spcPct val="25000"/>
              </a:spcBef>
            </a:pPr>
            <a:r>
              <a:rPr lang="en-US" sz="900" i="1" dirty="0">
                <a:cs typeface="Arial" charset="0"/>
              </a:rPr>
              <a:t>This presentation may contain references to findings of various reports available in the public domain. INSOFE  makes no representation as to their accuracy or that the organization subscribes to those findings.</a:t>
            </a:r>
          </a:p>
        </p:txBody>
      </p:sp>
    </p:spTree>
    <p:extLst>
      <p:ext uri="{BB962C8B-B14F-4D97-AF65-F5344CB8AC3E}">
        <p14:creationId xmlns:p14="http://schemas.microsoft.com/office/powerpoint/2010/main" val="627185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514350" y="1600200"/>
            <a:ext cx="92583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2"/>
          <p:cNvSpPr>
            <a:spLocks noGrp="1" noChangeArrowheads="1"/>
          </p:cNvSpPr>
          <p:nvPr>
            <p:ph type="title"/>
          </p:nvPr>
        </p:nvSpPr>
        <p:spPr bwMode="auto">
          <a:xfrm>
            <a:off x="190500" y="152400"/>
            <a:ext cx="8210550"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pic>
        <p:nvPicPr>
          <p:cNvPr id="1030" name="Picture 6" descr="saffron.jpg"/>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flipV="1">
            <a:off x="-14464" y="1270000"/>
            <a:ext cx="63500" cy="535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a:spLocks noChangeArrowheads="1"/>
          </p:cNvSpPr>
          <p:nvPr userDrawn="1"/>
        </p:nvSpPr>
        <p:spPr bwMode="auto">
          <a:xfrm>
            <a:off x="-14464" y="6589713"/>
            <a:ext cx="10301464" cy="268287"/>
          </a:xfrm>
          <a:prstGeom prst="rect">
            <a:avLst/>
          </a:prstGeom>
          <a:solidFill>
            <a:srgbClr val="FF6600"/>
          </a:solidFill>
          <a:ln>
            <a:noFill/>
          </a:ln>
          <a:extLst/>
        </p:spPr>
        <p:txBody>
          <a:bodyPr wrap="none" anchor="ctr"/>
          <a:lstStyle/>
          <a:p>
            <a:pPr algn="just" eaLnBrk="0" hangingPunct="0"/>
            <a:endParaRPr lang="en-US" sz="1200" dirty="0">
              <a:solidFill>
                <a:schemeClr val="bg1"/>
              </a:solidFill>
              <a:latin typeface="Verdana" pitchFamily="34" charset="0"/>
              <a:cs typeface="Arial" charset="0"/>
            </a:endParaRPr>
          </a:p>
        </p:txBody>
      </p:sp>
      <p:pic>
        <p:nvPicPr>
          <p:cNvPr id="3" name="Picture 2"/>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0224932" y="0"/>
            <a:ext cx="71023" cy="5279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userDrawn="1"/>
        </p:nvSpPr>
        <p:spPr>
          <a:xfrm>
            <a:off x="29447" y="6604084"/>
            <a:ext cx="10228107" cy="276999"/>
          </a:xfrm>
          <a:prstGeom prst="rect">
            <a:avLst/>
          </a:prstGeom>
          <a:noFill/>
        </p:spPr>
        <p:txBody>
          <a:bodyPr wrap="square" rtlCol="0">
            <a:spAutoFit/>
          </a:bodyPr>
          <a:lstStyle/>
          <a:p>
            <a:pPr algn="l"/>
            <a:r>
              <a:rPr lang="en-US" sz="1200" dirty="0">
                <a:ln>
                  <a:noFill/>
                </a:ln>
                <a:solidFill>
                  <a:schemeClr val="bg1"/>
                </a:solidFill>
              </a:rPr>
              <a:t>The best place for students</a:t>
            </a:r>
            <a:r>
              <a:rPr lang="en-US" sz="1200" baseline="0" dirty="0">
                <a:ln>
                  <a:noFill/>
                </a:ln>
                <a:solidFill>
                  <a:schemeClr val="bg1"/>
                </a:solidFill>
              </a:rPr>
              <a:t> to learn Applied Engineering                       	    </a:t>
            </a:r>
            <a:fld id="{92F25A20-6FD6-46FE-A78E-BF2E59310FDC}" type="slidenum">
              <a:rPr lang="en-US" sz="1200" smtClean="0">
                <a:ln>
                  <a:noFill/>
                </a:ln>
                <a:solidFill>
                  <a:schemeClr val="bg1"/>
                </a:solidFill>
              </a:rPr>
              <a:pPr algn="l"/>
              <a:t>‹#›</a:t>
            </a:fld>
            <a:r>
              <a:rPr lang="en-US" sz="1200" baseline="0" dirty="0">
                <a:ln>
                  <a:noFill/>
                </a:ln>
                <a:solidFill>
                  <a:schemeClr val="bg1"/>
                </a:solidFill>
              </a:rPr>
              <a:t>  			http://www.insofe.edu.in</a:t>
            </a:r>
            <a:endParaRPr lang="en-US" sz="1200" dirty="0">
              <a:ln>
                <a:noFill/>
              </a:ln>
              <a:solidFill>
                <a:schemeClr val="bg1"/>
              </a:solidFill>
            </a:endParaRPr>
          </a:p>
        </p:txBody>
      </p:sp>
      <p:pic>
        <p:nvPicPr>
          <p:cNvPr id="2" name="Picture 1"/>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9055415" y="31534"/>
            <a:ext cx="1117285" cy="1117285"/>
          </a:xfrm>
          <a:prstGeom prst="rect">
            <a:avLst/>
          </a:prstGeom>
        </p:spPr>
      </p:pic>
      <p:sp>
        <p:nvSpPr>
          <p:cNvPr id="10" name="TextBox 9"/>
          <p:cNvSpPr txBox="1"/>
          <p:nvPr userDrawn="1"/>
        </p:nvSpPr>
        <p:spPr>
          <a:xfrm rot="5400000">
            <a:off x="9210991" y="5066989"/>
            <a:ext cx="1713931" cy="400110"/>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2000" b="0" cap="none" spc="200" baseline="0" dirty="0">
                <a:ln w="18415" cmpd="sng">
                  <a:solidFill>
                    <a:srgbClr val="FFFFFF"/>
                  </a:solidFill>
                  <a:prstDash val="solid"/>
                </a:ln>
                <a:solidFill>
                  <a:srgbClr val="FFFFFF"/>
                </a:solidFill>
                <a:effectLst>
                  <a:outerShdw blurRad="63500" dir="3600000" algn="tl" rotWithShape="0">
                    <a:srgbClr val="000000">
                      <a:alpha val="70000"/>
                    </a:srgbClr>
                  </a:outerShdw>
                </a:effectLst>
              </a:rPr>
              <a:t>CSE 7305c</a:t>
            </a:r>
            <a:endParaRPr lang="en-IN" sz="2000" b="0" cap="none" spc="200" baseline="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cSld>
  <p:clrMap bg1="lt1" tx1="dk1" bg2="lt2" tx2="dk2" accent1="accent1" accent2="accent2" accent3="accent3" accent4="accent4" accent5="accent5" accent6="accent6" hlink="hlink" folHlink="folHlink"/>
  <p:sldLayoutIdLst>
    <p:sldLayoutId id="2147483719"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hdr="0" ftr="0" dt="0"/>
  <p:txStyles>
    <p:titleStyle>
      <a:lvl1pPr algn="l" rtl="0" eaLnBrk="0" fontAlgn="base" hangingPunct="0">
        <a:spcBef>
          <a:spcPct val="0"/>
        </a:spcBef>
        <a:spcAft>
          <a:spcPct val="0"/>
        </a:spcAft>
        <a:defRPr sz="3200" b="1">
          <a:solidFill>
            <a:schemeClr val="tx1"/>
          </a:solidFill>
          <a:latin typeface="+mj-lt"/>
          <a:ea typeface="MASTERPLAN" pitchFamily="2" charset="0"/>
          <a:cs typeface="Times New Roman" pitchFamily="18" charset="0"/>
        </a:defRPr>
      </a:lvl1pPr>
      <a:lvl2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2pPr>
      <a:lvl3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3pPr>
      <a:lvl4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4pPr>
      <a:lvl5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5pPr>
      <a:lvl6pPr marL="457200" algn="l" rtl="0" fontAlgn="base">
        <a:spcBef>
          <a:spcPct val="0"/>
        </a:spcBef>
        <a:spcAft>
          <a:spcPct val="0"/>
        </a:spcAft>
        <a:defRPr sz="2800" b="1">
          <a:solidFill>
            <a:schemeClr val="tx1"/>
          </a:solidFill>
          <a:latin typeface="Arial" charset="0"/>
        </a:defRPr>
      </a:lvl6pPr>
      <a:lvl7pPr marL="914400" algn="l" rtl="0" fontAlgn="base">
        <a:spcBef>
          <a:spcPct val="0"/>
        </a:spcBef>
        <a:spcAft>
          <a:spcPct val="0"/>
        </a:spcAft>
        <a:defRPr sz="2800" b="1">
          <a:solidFill>
            <a:schemeClr val="tx1"/>
          </a:solidFill>
          <a:latin typeface="Arial" charset="0"/>
        </a:defRPr>
      </a:lvl7pPr>
      <a:lvl8pPr marL="1371600" algn="l" rtl="0" fontAlgn="base">
        <a:spcBef>
          <a:spcPct val="0"/>
        </a:spcBef>
        <a:spcAft>
          <a:spcPct val="0"/>
        </a:spcAft>
        <a:defRPr sz="2800" b="1">
          <a:solidFill>
            <a:schemeClr val="tx1"/>
          </a:solidFill>
          <a:latin typeface="Arial" charset="0"/>
        </a:defRPr>
      </a:lvl8pPr>
      <a:lvl9pPr marL="1828800" algn="l" rtl="0" fontAlgn="base">
        <a:spcBef>
          <a:spcPct val="0"/>
        </a:spcBef>
        <a:spcAft>
          <a:spcPct val="0"/>
        </a:spcAft>
        <a:defRPr sz="2800" b="1">
          <a:solidFill>
            <a:schemeClr val="tx1"/>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Verdana" pitchFamily="34" charset="0"/>
          <a:ea typeface="Verdana" pitchFamily="34" charset="0"/>
          <a:cs typeface="Verdana" pitchFamily="34" charset="0"/>
        </a:defRPr>
      </a:lvl1pPr>
      <a:lvl2pPr marL="742950" indent="-285750" algn="l" rtl="0" eaLnBrk="0" fontAlgn="base" hangingPunct="0">
        <a:spcBef>
          <a:spcPct val="20000"/>
        </a:spcBef>
        <a:spcAft>
          <a:spcPct val="0"/>
        </a:spcAft>
        <a:buChar char="–"/>
        <a:defRPr sz="2800">
          <a:solidFill>
            <a:schemeClr val="tx1"/>
          </a:solidFill>
          <a:latin typeface="Verdana" pitchFamily="34" charset="0"/>
          <a:ea typeface="Verdana" pitchFamily="34" charset="0"/>
          <a:cs typeface="Verdana" pitchFamily="34" charset="0"/>
        </a:defRPr>
      </a:lvl2pPr>
      <a:lvl3pPr marL="1143000" indent="-228600" algn="l" rtl="0" eaLnBrk="0" fontAlgn="base" hangingPunct="0">
        <a:spcBef>
          <a:spcPct val="20000"/>
        </a:spcBef>
        <a:spcAft>
          <a:spcPct val="0"/>
        </a:spcAft>
        <a:buChar char="•"/>
        <a:defRPr sz="2400">
          <a:solidFill>
            <a:schemeClr val="tx1"/>
          </a:solidFill>
          <a:latin typeface="Verdana" pitchFamily="34" charset="0"/>
          <a:ea typeface="Verdana" pitchFamily="34" charset="0"/>
          <a:cs typeface="Verdana" pitchFamily="34" charset="0"/>
        </a:defRPr>
      </a:lvl3pPr>
      <a:lvl4pPr marL="16002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4pPr>
      <a:lvl5pPr marL="20574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514350" y="1600200"/>
            <a:ext cx="92583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2"/>
          <p:cNvSpPr>
            <a:spLocks noGrp="1" noChangeArrowheads="1"/>
          </p:cNvSpPr>
          <p:nvPr>
            <p:ph type="title"/>
          </p:nvPr>
        </p:nvSpPr>
        <p:spPr bwMode="auto">
          <a:xfrm>
            <a:off x="190500" y="152400"/>
            <a:ext cx="8210550"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pic>
        <p:nvPicPr>
          <p:cNvPr id="1030" name="Picture 6" descr="saffron.jp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flipV="1">
            <a:off x="-14464" y="1270000"/>
            <a:ext cx="63500" cy="535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a:spLocks noChangeArrowheads="1"/>
          </p:cNvSpPr>
          <p:nvPr userDrawn="1"/>
        </p:nvSpPr>
        <p:spPr bwMode="auto">
          <a:xfrm>
            <a:off x="-14464" y="6589713"/>
            <a:ext cx="10301464" cy="268287"/>
          </a:xfrm>
          <a:prstGeom prst="rect">
            <a:avLst/>
          </a:prstGeom>
          <a:solidFill>
            <a:srgbClr val="FF6600"/>
          </a:solidFill>
          <a:ln>
            <a:noFill/>
          </a:ln>
          <a:extLst/>
        </p:spPr>
        <p:txBody>
          <a:bodyPr wrap="none" anchor="ctr"/>
          <a:lstStyle/>
          <a:p>
            <a:pPr algn="just" eaLnBrk="0" hangingPunct="0"/>
            <a:endParaRPr lang="en-US" sz="1200" dirty="0">
              <a:solidFill>
                <a:schemeClr val="bg1"/>
              </a:solidFill>
              <a:latin typeface="Verdana" pitchFamily="34" charset="0"/>
              <a:cs typeface="Arial" charset="0"/>
            </a:endParaRPr>
          </a:p>
        </p:txBody>
      </p:sp>
      <p:pic>
        <p:nvPicPr>
          <p:cNvPr id="3"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0224932" y="0"/>
            <a:ext cx="71023" cy="5279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9"/>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048500" y="76200"/>
            <a:ext cx="3117371" cy="954658"/>
          </a:xfrm>
          <a:prstGeom prst="rect">
            <a:avLst/>
          </a:prstGeom>
        </p:spPr>
      </p:pic>
      <p:sp>
        <p:nvSpPr>
          <p:cNvPr id="11" name="TextBox 10"/>
          <p:cNvSpPr txBox="1"/>
          <p:nvPr userDrawn="1"/>
        </p:nvSpPr>
        <p:spPr>
          <a:xfrm>
            <a:off x="29447" y="6604084"/>
            <a:ext cx="10228107" cy="276999"/>
          </a:xfrm>
          <a:prstGeom prst="rect">
            <a:avLst/>
          </a:prstGeom>
          <a:noFill/>
        </p:spPr>
        <p:txBody>
          <a:bodyPr wrap="square" rtlCol="0">
            <a:spAutoFit/>
          </a:bodyPr>
          <a:lstStyle/>
          <a:p>
            <a:pPr algn="l"/>
            <a:r>
              <a:rPr lang="en-US" sz="1200" dirty="0">
                <a:ln>
                  <a:noFill/>
                </a:ln>
                <a:solidFill>
                  <a:schemeClr val="bg1"/>
                </a:solidFill>
              </a:rPr>
              <a:t>The best place for students</a:t>
            </a:r>
            <a:r>
              <a:rPr lang="en-US" sz="1200" baseline="0" dirty="0">
                <a:ln>
                  <a:noFill/>
                </a:ln>
                <a:solidFill>
                  <a:schemeClr val="bg1"/>
                </a:solidFill>
              </a:rPr>
              <a:t> to learn Applied Engineering                         	  </a:t>
            </a:r>
            <a:fld id="{92F25A20-6FD6-46FE-A78E-BF2E59310FDC}" type="slidenum">
              <a:rPr lang="en-US" sz="1200" smtClean="0">
                <a:ln>
                  <a:noFill/>
                </a:ln>
                <a:solidFill>
                  <a:schemeClr val="bg1"/>
                </a:solidFill>
              </a:rPr>
              <a:pPr algn="l"/>
              <a:t>‹#›</a:t>
            </a:fld>
            <a:r>
              <a:rPr lang="en-US" sz="1200" baseline="0" dirty="0">
                <a:ln>
                  <a:noFill/>
                </a:ln>
                <a:solidFill>
                  <a:schemeClr val="bg1"/>
                </a:solidFill>
              </a:rPr>
              <a:t>  			http://www.insofe.edu.in</a:t>
            </a:r>
            <a:endParaRPr lang="en-US" sz="1200" dirty="0">
              <a:ln>
                <a:noFill/>
              </a:ln>
              <a:solidFill>
                <a:schemeClr val="bg1"/>
              </a:solidFill>
            </a:endParaRPr>
          </a:p>
        </p:txBody>
      </p:sp>
    </p:spTree>
    <p:extLst>
      <p:ext uri="{BB962C8B-B14F-4D97-AF65-F5344CB8AC3E}">
        <p14:creationId xmlns:p14="http://schemas.microsoft.com/office/powerpoint/2010/main" val="1023705024"/>
      </p:ext>
    </p:extLst>
  </p:cSld>
  <p:clrMap bg1="lt1" tx1="dk1" bg2="lt2" tx2="dk2" accent1="accent1" accent2="accent2" accent3="accent3" accent4="accent4" accent5="accent5" accent6="accent6" hlink="hlink" folHlink="folHlink"/>
  <p:sldLayoutIdLst>
    <p:sldLayoutId id="2147483735" r:id="rId1"/>
  </p:sldLayoutIdLst>
  <p:hf hdr="0" ftr="0" dt="0"/>
  <p:txStyles>
    <p:titleStyle>
      <a:lvl1pPr algn="l" rtl="0" eaLnBrk="0" fontAlgn="base" hangingPunct="0">
        <a:spcBef>
          <a:spcPct val="0"/>
        </a:spcBef>
        <a:spcAft>
          <a:spcPct val="0"/>
        </a:spcAft>
        <a:defRPr sz="3200" b="1">
          <a:solidFill>
            <a:schemeClr val="tx1"/>
          </a:solidFill>
          <a:latin typeface="+mj-lt"/>
          <a:ea typeface="MASTERPLAN" pitchFamily="2" charset="0"/>
          <a:cs typeface="Times New Roman" pitchFamily="18" charset="0"/>
        </a:defRPr>
      </a:lvl1pPr>
      <a:lvl2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2pPr>
      <a:lvl3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3pPr>
      <a:lvl4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4pPr>
      <a:lvl5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5pPr>
      <a:lvl6pPr marL="457200" algn="l" rtl="0" fontAlgn="base">
        <a:spcBef>
          <a:spcPct val="0"/>
        </a:spcBef>
        <a:spcAft>
          <a:spcPct val="0"/>
        </a:spcAft>
        <a:defRPr sz="2800" b="1">
          <a:solidFill>
            <a:schemeClr val="tx1"/>
          </a:solidFill>
          <a:latin typeface="Arial" charset="0"/>
        </a:defRPr>
      </a:lvl6pPr>
      <a:lvl7pPr marL="914400" algn="l" rtl="0" fontAlgn="base">
        <a:spcBef>
          <a:spcPct val="0"/>
        </a:spcBef>
        <a:spcAft>
          <a:spcPct val="0"/>
        </a:spcAft>
        <a:defRPr sz="2800" b="1">
          <a:solidFill>
            <a:schemeClr val="tx1"/>
          </a:solidFill>
          <a:latin typeface="Arial" charset="0"/>
        </a:defRPr>
      </a:lvl7pPr>
      <a:lvl8pPr marL="1371600" algn="l" rtl="0" fontAlgn="base">
        <a:spcBef>
          <a:spcPct val="0"/>
        </a:spcBef>
        <a:spcAft>
          <a:spcPct val="0"/>
        </a:spcAft>
        <a:defRPr sz="2800" b="1">
          <a:solidFill>
            <a:schemeClr val="tx1"/>
          </a:solidFill>
          <a:latin typeface="Arial" charset="0"/>
        </a:defRPr>
      </a:lvl8pPr>
      <a:lvl9pPr marL="1828800" algn="l" rtl="0" fontAlgn="base">
        <a:spcBef>
          <a:spcPct val="0"/>
        </a:spcBef>
        <a:spcAft>
          <a:spcPct val="0"/>
        </a:spcAft>
        <a:defRPr sz="2800" b="1">
          <a:solidFill>
            <a:schemeClr val="tx1"/>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Verdana" pitchFamily="34" charset="0"/>
          <a:ea typeface="Verdana" pitchFamily="34" charset="0"/>
          <a:cs typeface="Verdana" pitchFamily="34" charset="0"/>
        </a:defRPr>
      </a:lvl1pPr>
      <a:lvl2pPr marL="742950" indent="-285750" algn="l" rtl="0" eaLnBrk="0" fontAlgn="base" hangingPunct="0">
        <a:spcBef>
          <a:spcPct val="20000"/>
        </a:spcBef>
        <a:spcAft>
          <a:spcPct val="0"/>
        </a:spcAft>
        <a:buChar char="–"/>
        <a:defRPr sz="2800">
          <a:solidFill>
            <a:schemeClr val="tx1"/>
          </a:solidFill>
          <a:latin typeface="Verdana" pitchFamily="34" charset="0"/>
          <a:ea typeface="Verdana" pitchFamily="34" charset="0"/>
          <a:cs typeface="Verdana" pitchFamily="34" charset="0"/>
        </a:defRPr>
      </a:lvl2pPr>
      <a:lvl3pPr marL="1143000" indent="-228600" algn="l" rtl="0" eaLnBrk="0" fontAlgn="base" hangingPunct="0">
        <a:spcBef>
          <a:spcPct val="20000"/>
        </a:spcBef>
        <a:spcAft>
          <a:spcPct val="0"/>
        </a:spcAft>
        <a:buChar char="•"/>
        <a:defRPr sz="2400">
          <a:solidFill>
            <a:schemeClr val="tx1"/>
          </a:solidFill>
          <a:latin typeface="Verdana" pitchFamily="34" charset="0"/>
          <a:ea typeface="Verdana" pitchFamily="34" charset="0"/>
          <a:cs typeface="Verdana" pitchFamily="34" charset="0"/>
        </a:defRPr>
      </a:lvl3pPr>
      <a:lvl4pPr marL="16002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4pPr>
      <a:lvl5pPr marL="20574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0"/>
          <p:cNvSpPr txBox="1">
            <a:spLocks/>
          </p:cNvSpPr>
          <p:nvPr/>
        </p:nvSpPr>
        <p:spPr>
          <a:xfrm>
            <a:off x="4610100" y="5010150"/>
            <a:ext cx="5562600" cy="438150"/>
          </a:xfrm>
          <a:prstGeom prst="rect">
            <a:avLst/>
          </a:prstGeom>
        </p:spPr>
        <p:txBody>
          <a:bodyPr/>
          <a:lstStyle>
            <a:lvl1pPr marL="0" indent="0" algn="l" rtl="0" eaLnBrk="0" fontAlgn="base" hangingPunct="0">
              <a:spcBef>
                <a:spcPct val="20000"/>
              </a:spcBef>
              <a:spcAft>
                <a:spcPct val="0"/>
              </a:spcAft>
              <a:buNone/>
              <a:defRPr sz="2000">
                <a:solidFill>
                  <a:schemeClr val="tx1"/>
                </a:solidFill>
                <a:latin typeface="+mn-lt"/>
                <a:ea typeface="Verdana" pitchFamily="34" charset="0"/>
                <a:cs typeface="Verdana" pitchFamily="34" charset="0"/>
              </a:defRPr>
            </a:lvl1pPr>
            <a:lvl2pPr marL="742950" indent="-285750" algn="l" rtl="0" eaLnBrk="0" fontAlgn="base" hangingPunct="0">
              <a:spcBef>
                <a:spcPct val="20000"/>
              </a:spcBef>
              <a:spcAft>
                <a:spcPct val="0"/>
              </a:spcAft>
              <a:buChar char="–"/>
              <a:defRPr sz="2800">
                <a:solidFill>
                  <a:schemeClr val="tx1"/>
                </a:solidFill>
                <a:latin typeface="Verdana" pitchFamily="34" charset="0"/>
                <a:ea typeface="Verdana" pitchFamily="34" charset="0"/>
                <a:cs typeface="Verdana" pitchFamily="34" charset="0"/>
              </a:defRPr>
            </a:lvl2pPr>
            <a:lvl3pPr marL="1143000" indent="-228600" algn="l" rtl="0" eaLnBrk="0" fontAlgn="base" hangingPunct="0">
              <a:spcBef>
                <a:spcPct val="20000"/>
              </a:spcBef>
              <a:spcAft>
                <a:spcPct val="0"/>
              </a:spcAft>
              <a:buChar char="•"/>
              <a:defRPr sz="2400">
                <a:solidFill>
                  <a:schemeClr val="tx1"/>
                </a:solidFill>
                <a:latin typeface="Verdana" pitchFamily="34" charset="0"/>
                <a:ea typeface="Verdana" pitchFamily="34" charset="0"/>
                <a:cs typeface="Verdana" pitchFamily="34" charset="0"/>
              </a:defRPr>
            </a:lvl3pPr>
            <a:lvl4pPr marL="16002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4pPr>
            <a:lvl5pPr marL="20574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b="1" dirty="0">
                <a:solidFill>
                  <a:srgbClr val="346374"/>
                </a:solidFill>
              </a:rPr>
              <a:t>Naveen Kapoor</a:t>
            </a:r>
          </a:p>
          <a:p>
            <a:r>
              <a:rPr lang="en-US" b="1" dirty="0">
                <a:solidFill>
                  <a:srgbClr val="346374"/>
                </a:solidFill>
              </a:rPr>
              <a:t>Ravikanth </a:t>
            </a:r>
            <a:r>
              <a:rPr lang="en-US" b="1" dirty="0" err="1">
                <a:solidFill>
                  <a:srgbClr val="346374"/>
                </a:solidFill>
              </a:rPr>
              <a:t>Practoor</a:t>
            </a:r>
            <a:endParaRPr lang="en-US" b="1" dirty="0">
              <a:solidFill>
                <a:srgbClr val="346374"/>
              </a:solidFill>
            </a:endParaRPr>
          </a:p>
        </p:txBody>
      </p:sp>
      <p:sp>
        <p:nvSpPr>
          <p:cNvPr id="6" name="Text Placeholder 20"/>
          <p:cNvSpPr txBox="1">
            <a:spLocks/>
          </p:cNvSpPr>
          <p:nvPr/>
        </p:nvSpPr>
        <p:spPr>
          <a:xfrm>
            <a:off x="4610100" y="5965751"/>
            <a:ext cx="5410200" cy="587449"/>
          </a:xfrm>
          <a:prstGeom prst="rect">
            <a:avLst/>
          </a:prstGeom>
        </p:spPr>
        <p:txBody>
          <a:bodyPr/>
          <a:lstStyle>
            <a:lvl1pPr marL="0" indent="0" algn="l" rtl="0" eaLnBrk="0" fontAlgn="base" hangingPunct="0">
              <a:spcBef>
                <a:spcPct val="20000"/>
              </a:spcBef>
              <a:spcAft>
                <a:spcPct val="0"/>
              </a:spcAft>
              <a:buNone/>
              <a:defRPr sz="2000">
                <a:solidFill>
                  <a:schemeClr val="tx1"/>
                </a:solidFill>
                <a:latin typeface="+mn-lt"/>
                <a:ea typeface="Verdana" pitchFamily="34" charset="0"/>
                <a:cs typeface="Verdana" pitchFamily="34" charset="0"/>
              </a:defRPr>
            </a:lvl1pPr>
            <a:lvl2pPr marL="742950" indent="-285750" algn="l" rtl="0" eaLnBrk="0" fontAlgn="base" hangingPunct="0">
              <a:spcBef>
                <a:spcPct val="20000"/>
              </a:spcBef>
              <a:spcAft>
                <a:spcPct val="0"/>
              </a:spcAft>
              <a:buChar char="–"/>
              <a:defRPr sz="2800">
                <a:solidFill>
                  <a:schemeClr val="tx1"/>
                </a:solidFill>
                <a:latin typeface="Verdana" pitchFamily="34" charset="0"/>
                <a:ea typeface="Verdana" pitchFamily="34" charset="0"/>
                <a:cs typeface="Verdana" pitchFamily="34" charset="0"/>
              </a:defRPr>
            </a:lvl2pPr>
            <a:lvl3pPr marL="1143000" indent="-228600" algn="l" rtl="0" eaLnBrk="0" fontAlgn="base" hangingPunct="0">
              <a:spcBef>
                <a:spcPct val="20000"/>
              </a:spcBef>
              <a:spcAft>
                <a:spcPct val="0"/>
              </a:spcAft>
              <a:buChar char="•"/>
              <a:defRPr sz="2400">
                <a:solidFill>
                  <a:schemeClr val="tx1"/>
                </a:solidFill>
                <a:latin typeface="Verdana" pitchFamily="34" charset="0"/>
                <a:ea typeface="Verdana" pitchFamily="34" charset="0"/>
                <a:cs typeface="Verdana" pitchFamily="34" charset="0"/>
              </a:defRPr>
            </a:lvl3pPr>
            <a:lvl4pPr marL="16002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4pPr>
            <a:lvl5pPr marL="20574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1400" dirty="0"/>
              <a:t> </a:t>
            </a:r>
          </a:p>
        </p:txBody>
      </p:sp>
      <p:sp>
        <p:nvSpPr>
          <p:cNvPr id="2" name="TextBox 1"/>
          <p:cNvSpPr txBox="1"/>
          <p:nvPr/>
        </p:nvSpPr>
        <p:spPr>
          <a:xfrm>
            <a:off x="4610100" y="3200400"/>
            <a:ext cx="5105400" cy="800219"/>
          </a:xfrm>
          <a:prstGeom prst="rect">
            <a:avLst/>
          </a:prstGeom>
          <a:noFill/>
        </p:spPr>
        <p:txBody>
          <a:bodyPr wrap="square" rtlCol="0">
            <a:spAutoFit/>
          </a:bodyPr>
          <a:lstStyle/>
          <a:p>
            <a:r>
              <a:rPr lang="en-US" sz="2800" b="1" dirty="0">
                <a:solidFill>
                  <a:srgbClr val="346374"/>
                </a:solidFill>
              </a:rPr>
              <a:t>Artificial Neural Networks</a:t>
            </a:r>
          </a:p>
          <a:p>
            <a:r>
              <a:rPr lang="en-US" b="1" dirty="0">
                <a:solidFill>
                  <a:srgbClr val="346374"/>
                </a:solidFill>
              </a:rPr>
              <a:t>Lab Review</a:t>
            </a:r>
            <a:endParaRPr lang="en-IN" b="1" dirty="0">
              <a:solidFill>
                <a:srgbClr val="346374"/>
              </a:solidFill>
            </a:endParaRPr>
          </a:p>
        </p:txBody>
      </p:sp>
      <p:sp>
        <p:nvSpPr>
          <p:cNvPr id="9" name="Text Placeholder 20"/>
          <p:cNvSpPr txBox="1">
            <a:spLocks/>
          </p:cNvSpPr>
          <p:nvPr/>
        </p:nvSpPr>
        <p:spPr>
          <a:xfrm>
            <a:off x="4610100" y="5105400"/>
            <a:ext cx="5562600" cy="457200"/>
          </a:xfrm>
          <a:prstGeom prst="rect">
            <a:avLst/>
          </a:prstGeom>
        </p:spPr>
        <p:txBody>
          <a:bodyPr/>
          <a:lstStyle>
            <a:lvl1pPr marL="0" indent="0" algn="l" rtl="0" eaLnBrk="0" fontAlgn="base" hangingPunct="0">
              <a:spcBef>
                <a:spcPct val="20000"/>
              </a:spcBef>
              <a:spcAft>
                <a:spcPct val="0"/>
              </a:spcAft>
              <a:buNone/>
              <a:defRPr sz="2000">
                <a:solidFill>
                  <a:schemeClr val="tx1"/>
                </a:solidFill>
                <a:latin typeface="+mn-lt"/>
                <a:ea typeface="Verdana" pitchFamily="34" charset="0"/>
                <a:cs typeface="Verdana" pitchFamily="34" charset="0"/>
              </a:defRPr>
            </a:lvl1pPr>
            <a:lvl2pPr marL="742950" indent="-285750" algn="l" rtl="0" eaLnBrk="0" fontAlgn="base" hangingPunct="0">
              <a:spcBef>
                <a:spcPct val="20000"/>
              </a:spcBef>
              <a:spcAft>
                <a:spcPct val="0"/>
              </a:spcAft>
              <a:buChar char="–"/>
              <a:defRPr sz="2800">
                <a:solidFill>
                  <a:schemeClr val="tx1"/>
                </a:solidFill>
                <a:latin typeface="Verdana" pitchFamily="34" charset="0"/>
                <a:ea typeface="Verdana" pitchFamily="34" charset="0"/>
                <a:cs typeface="Verdana" pitchFamily="34" charset="0"/>
              </a:defRPr>
            </a:lvl2pPr>
            <a:lvl3pPr marL="1143000" indent="-228600" algn="l" rtl="0" eaLnBrk="0" fontAlgn="base" hangingPunct="0">
              <a:spcBef>
                <a:spcPct val="20000"/>
              </a:spcBef>
              <a:spcAft>
                <a:spcPct val="0"/>
              </a:spcAft>
              <a:buChar char="•"/>
              <a:defRPr sz="2400">
                <a:solidFill>
                  <a:schemeClr val="tx1"/>
                </a:solidFill>
                <a:latin typeface="Verdana" pitchFamily="34" charset="0"/>
                <a:ea typeface="Verdana" pitchFamily="34" charset="0"/>
                <a:cs typeface="Verdana" pitchFamily="34" charset="0"/>
              </a:defRPr>
            </a:lvl3pPr>
            <a:lvl4pPr marL="16002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4pPr>
            <a:lvl5pPr marL="20574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endParaRPr lang="en-US" b="1" dirty="0">
              <a:solidFill>
                <a:schemeClr val="bg1">
                  <a:lumMod val="50000"/>
                </a:schemeClr>
              </a:solidFill>
            </a:endParaRP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a:xfrm>
            <a:off x="419100" y="990600"/>
            <a:ext cx="9258300" cy="4525963"/>
          </a:xfrm>
        </p:spPr>
        <p:txBody>
          <a:bodyPr/>
          <a:lstStyle/>
          <a:p>
            <a:r>
              <a:rPr lang="en-US" dirty="0"/>
              <a:t>Review of Artificial Neural Network</a:t>
            </a:r>
          </a:p>
          <a:p>
            <a:pPr lvl="1"/>
            <a:r>
              <a:rPr lang="en-US" dirty="0"/>
              <a:t>Few Use cases</a:t>
            </a:r>
          </a:p>
          <a:p>
            <a:pPr lvl="1"/>
            <a:r>
              <a:rPr lang="en-US" dirty="0"/>
              <a:t>Components of ANN</a:t>
            </a:r>
          </a:p>
          <a:p>
            <a:r>
              <a:rPr lang="en-US" dirty="0"/>
              <a:t>Packages in R</a:t>
            </a:r>
          </a:p>
          <a:p>
            <a:pPr lvl="1"/>
            <a:r>
              <a:rPr lang="en-US" dirty="0" err="1"/>
              <a:t>nnet</a:t>
            </a:r>
            <a:endParaRPr lang="en-US" dirty="0"/>
          </a:p>
          <a:p>
            <a:pPr lvl="1"/>
            <a:r>
              <a:rPr lang="en-US" dirty="0" err="1"/>
              <a:t>neuralnet</a:t>
            </a:r>
            <a:endParaRPr lang="en-US" dirty="0"/>
          </a:p>
          <a:p>
            <a:pPr marL="457200" lvl="1" indent="0">
              <a:buNone/>
            </a:pPr>
            <a:endParaRPr lang="en-US" dirty="0"/>
          </a:p>
          <a:p>
            <a:endParaRPr lang="en-US" dirty="0"/>
          </a:p>
          <a:p>
            <a:endParaRPr lang="en-US" dirty="0"/>
          </a:p>
        </p:txBody>
      </p:sp>
    </p:spTree>
    <p:extLst>
      <p:ext uri="{BB962C8B-B14F-4D97-AF65-F5344CB8AC3E}">
        <p14:creationId xmlns:p14="http://schemas.microsoft.com/office/powerpoint/2010/main" val="1269169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 simple problem</a:t>
            </a:r>
          </a:p>
        </p:txBody>
      </p:sp>
      <p:grpSp>
        <p:nvGrpSpPr>
          <p:cNvPr id="3" name="Group 2"/>
          <p:cNvGrpSpPr/>
          <p:nvPr/>
        </p:nvGrpSpPr>
        <p:grpSpPr>
          <a:xfrm>
            <a:off x="1028700" y="1977390"/>
            <a:ext cx="2438400" cy="2438400"/>
            <a:chOff x="1028700" y="1977390"/>
            <a:chExt cx="2438400" cy="2438400"/>
          </a:xfrm>
        </p:grpSpPr>
        <p:cxnSp>
          <p:nvCxnSpPr>
            <p:cNvPr id="5" name="Straight Connector 4"/>
            <p:cNvCxnSpPr/>
            <p:nvPr/>
          </p:nvCxnSpPr>
          <p:spPr>
            <a:xfrm>
              <a:off x="2171700" y="1977390"/>
              <a:ext cx="0" cy="24384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028700" y="2362200"/>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590801" y="1992868"/>
              <a:ext cx="300082" cy="369332"/>
            </a:xfrm>
            <a:prstGeom prst="rect">
              <a:avLst/>
            </a:prstGeom>
            <a:noFill/>
          </p:spPr>
          <p:txBody>
            <a:bodyPr wrap="none" rtlCol="0">
              <a:spAutoFit/>
            </a:bodyPr>
            <a:lstStyle/>
            <a:p>
              <a:r>
                <a:rPr lang="en-IN" dirty="0"/>
                <a:t>y</a:t>
              </a:r>
            </a:p>
          </p:txBody>
        </p:sp>
        <p:sp>
          <p:nvSpPr>
            <p:cNvPr id="9" name="TextBox 8"/>
            <p:cNvSpPr txBox="1"/>
            <p:nvPr/>
          </p:nvSpPr>
          <p:spPr>
            <a:xfrm>
              <a:off x="1373959" y="1992868"/>
              <a:ext cx="228600" cy="369332"/>
            </a:xfrm>
            <a:prstGeom prst="rect">
              <a:avLst/>
            </a:prstGeom>
            <a:noFill/>
          </p:spPr>
          <p:txBody>
            <a:bodyPr wrap="square" rtlCol="0">
              <a:spAutoFit/>
            </a:bodyPr>
            <a:lstStyle/>
            <a:p>
              <a:r>
                <a:rPr lang="en-IN" dirty="0"/>
                <a:t>x</a:t>
              </a:r>
            </a:p>
          </p:txBody>
        </p:sp>
      </p:grpSp>
      <p:sp>
        <p:nvSpPr>
          <p:cNvPr id="10" name="TextBox 9"/>
          <p:cNvSpPr txBox="1"/>
          <p:nvPr/>
        </p:nvSpPr>
        <p:spPr>
          <a:xfrm>
            <a:off x="1181100" y="2546866"/>
            <a:ext cx="838200" cy="369332"/>
          </a:xfrm>
          <a:prstGeom prst="rect">
            <a:avLst/>
          </a:prstGeom>
          <a:noFill/>
        </p:spPr>
        <p:txBody>
          <a:bodyPr wrap="square" rtlCol="0">
            <a:spAutoFit/>
          </a:bodyPr>
          <a:lstStyle/>
          <a:p>
            <a:r>
              <a:rPr lang="en-IN" dirty="0"/>
              <a:t>1,20</a:t>
            </a:r>
          </a:p>
        </p:txBody>
      </p:sp>
      <p:sp>
        <p:nvSpPr>
          <p:cNvPr id="11" name="TextBox 10"/>
          <p:cNvSpPr txBox="1"/>
          <p:nvPr/>
        </p:nvSpPr>
        <p:spPr>
          <a:xfrm>
            <a:off x="2476499" y="2536984"/>
            <a:ext cx="685801" cy="369332"/>
          </a:xfrm>
          <a:prstGeom prst="rect">
            <a:avLst/>
          </a:prstGeom>
          <a:noFill/>
        </p:spPr>
        <p:txBody>
          <a:bodyPr wrap="square" rtlCol="0">
            <a:spAutoFit/>
          </a:bodyPr>
          <a:lstStyle/>
          <a:p>
            <a:r>
              <a:rPr lang="en-IN" dirty="0"/>
              <a:t>8.2</a:t>
            </a:r>
          </a:p>
        </p:txBody>
      </p:sp>
      <p:sp>
        <p:nvSpPr>
          <p:cNvPr id="12" name="TextBox 11"/>
          <p:cNvSpPr txBox="1"/>
          <p:nvPr/>
        </p:nvSpPr>
        <p:spPr>
          <a:xfrm>
            <a:off x="1181100" y="2942391"/>
            <a:ext cx="838200" cy="369332"/>
          </a:xfrm>
          <a:prstGeom prst="rect">
            <a:avLst/>
          </a:prstGeom>
          <a:noFill/>
        </p:spPr>
        <p:txBody>
          <a:bodyPr wrap="square" rtlCol="0">
            <a:spAutoFit/>
          </a:bodyPr>
          <a:lstStyle/>
          <a:p>
            <a:r>
              <a:rPr lang="en-IN" dirty="0"/>
              <a:t>2,35</a:t>
            </a:r>
          </a:p>
        </p:txBody>
      </p:sp>
      <p:sp>
        <p:nvSpPr>
          <p:cNvPr id="13" name="TextBox 12"/>
          <p:cNvSpPr txBox="1"/>
          <p:nvPr/>
        </p:nvSpPr>
        <p:spPr>
          <a:xfrm>
            <a:off x="2497001" y="2942391"/>
            <a:ext cx="685801" cy="369332"/>
          </a:xfrm>
          <a:prstGeom prst="rect">
            <a:avLst/>
          </a:prstGeom>
          <a:noFill/>
        </p:spPr>
        <p:txBody>
          <a:bodyPr wrap="square" rtlCol="0">
            <a:spAutoFit/>
          </a:bodyPr>
          <a:lstStyle/>
          <a:p>
            <a:r>
              <a:rPr lang="en-IN" dirty="0"/>
              <a:t>9.7</a:t>
            </a:r>
          </a:p>
        </p:txBody>
      </p:sp>
      <p:sp>
        <p:nvSpPr>
          <p:cNvPr id="14" name="TextBox 13"/>
          <p:cNvSpPr txBox="1"/>
          <p:nvPr/>
        </p:nvSpPr>
        <p:spPr>
          <a:xfrm>
            <a:off x="1181100" y="3337916"/>
            <a:ext cx="838200" cy="369332"/>
          </a:xfrm>
          <a:prstGeom prst="rect">
            <a:avLst/>
          </a:prstGeom>
          <a:noFill/>
        </p:spPr>
        <p:txBody>
          <a:bodyPr wrap="square" rtlCol="0">
            <a:spAutoFit/>
          </a:bodyPr>
          <a:lstStyle/>
          <a:p>
            <a:r>
              <a:rPr lang="en-IN" dirty="0"/>
              <a:t>4,50</a:t>
            </a:r>
          </a:p>
        </p:txBody>
      </p:sp>
      <p:sp>
        <p:nvSpPr>
          <p:cNvPr id="15" name="TextBox 14"/>
          <p:cNvSpPr txBox="1"/>
          <p:nvPr/>
        </p:nvSpPr>
        <p:spPr>
          <a:xfrm>
            <a:off x="2358391" y="3337916"/>
            <a:ext cx="838200" cy="369332"/>
          </a:xfrm>
          <a:prstGeom prst="rect">
            <a:avLst/>
          </a:prstGeom>
          <a:noFill/>
        </p:spPr>
        <p:txBody>
          <a:bodyPr wrap="square" rtlCol="0">
            <a:spAutoFit/>
          </a:bodyPr>
          <a:lstStyle/>
          <a:p>
            <a:r>
              <a:rPr lang="en-IN" dirty="0"/>
              <a:t>13.6</a:t>
            </a:r>
          </a:p>
        </p:txBody>
      </p:sp>
      <p:cxnSp>
        <p:nvCxnSpPr>
          <p:cNvPr id="17" name="Straight Connector 16"/>
          <p:cNvCxnSpPr/>
          <p:nvPr/>
        </p:nvCxnSpPr>
        <p:spPr>
          <a:xfrm>
            <a:off x="1181100" y="3810000"/>
            <a:ext cx="200170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181100" y="3898066"/>
            <a:ext cx="838200" cy="369332"/>
          </a:xfrm>
          <a:prstGeom prst="rect">
            <a:avLst/>
          </a:prstGeom>
          <a:noFill/>
        </p:spPr>
        <p:txBody>
          <a:bodyPr wrap="square" rtlCol="0">
            <a:spAutoFit/>
          </a:bodyPr>
          <a:lstStyle/>
          <a:p>
            <a:r>
              <a:rPr lang="en-IN" dirty="0"/>
              <a:t>5,60</a:t>
            </a:r>
          </a:p>
        </p:txBody>
      </p:sp>
      <p:sp>
        <p:nvSpPr>
          <p:cNvPr id="16" name="TextBox 15"/>
          <p:cNvSpPr txBox="1"/>
          <p:nvPr/>
        </p:nvSpPr>
        <p:spPr>
          <a:xfrm>
            <a:off x="2551919" y="3891913"/>
            <a:ext cx="609601" cy="369332"/>
          </a:xfrm>
          <a:prstGeom prst="rect">
            <a:avLst/>
          </a:prstGeom>
          <a:noFill/>
        </p:spPr>
        <p:txBody>
          <a:bodyPr wrap="square" rtlCol="0">
            <a:spAutoFit/>
          </a:bodyPr>
          <a:lstStyle/>
          <a:p>
            <a:r>
              <a:rPr lang="en-IN" dirty="0"/>
              <a:t>?</a:t>
            </a:r>
          </a:p>
        </p:txBody>
      </p:sp>
    </p:spTree>
    <p:extLst>
      <p:ext uri="{BB962C8B-B14F-4D97-AF65-F5344CB8AC3E}">
        <p14:creationId xmlns:p14="http://schemas.microsoft.com/office/powerpoint/2010/main" val="3055711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P spid="18"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Rounded Corners 46"/>
          <p:cNvSpPr/>
          <p:nvPr/>
        </p:nvSpPr>
        <p:spPr>
          <a:xfrm>
            <a:off x="7172185" y="825381"/>
            <a:ext cx="1019315" cy="5118219"/>
          </a:xfrm>
          <a:prstGeom prst="roundRect">
            <a:avLst/>
          </a:prstGeom>
          <a:solidFill>
            <a:schemeClr val="accent1">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p:cNvSpPr/>
          <p:nvPr/>
        </p:nvSpPr>
        <p:spPr>
          <a:xfrm>
            <a:off x="5809019" y="825381"/>
            <a:ext cx="1087081" cy="5118219"/>
          </a:xfrm>
          <a:prstGeom prst="roundRect">
            <a:avLst/>
          </a:prstGeom>
          <a:solidFill>
            <a:schemeClr val="accent1">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IN" dirty="0"/>
              <a:t>ANN</a:t>
            </a:r>
          </a:p>
        </p:txBody>
      </p:sp>
      <p:cxnSp>
        <p:nvCxnSpPr>
          <p:cNvPr id="5" name="Straight Connector 4"/>
          <p:cNvCxnSpPr/>
          <p:nvPr/>
        </p:nvCxnSpPr>
        <p:spPr>
          <a:xfrm>
            <a:off x="2171700" y="1977390"/>
            <a:ext cx="0" cy="24384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028700" y="2362200"/>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590801" y="1992868"/>
            <a:ext cx="300082" cy="369332"/>
          </a:xfrm>
          <a:prstGeom prst="rect">
            <a:avLst/>
          </a:prstGeom>
          <a:noFill/>
        </p:spPr>
        <p:txBody>
          <a:bodyPr wrap="none" rtlCol="0">
            <a:spAutoFit/>
          </a:bodyPr>
          <a:lstStyle/>
          <a:p>
            <a:r>
              <a:rPr lang="en-IN" dirty="0"/>
              <a:t>y</a:t>
            </a:r>
          </a:p>
        </p:txBody>
      </p:sp>
      <p:sp>
        <p:nvSpPr>
          <p:cNvPr id="9" name="TextBox 8"/>
          <p:cNvSpPr txBox="1"/>
          <p:nvPr/>
        </p:nvSpPr>
        <p:spPr>
          <a:xfrm>
            <a:off x="1373959" y="1992868"/>
            <a:ext cx="228600" cy="369332"/>
          </a:xfrm>
          <a:prstGeom prst="rect">
            <a:avLst/>
          </a:prstGeom>
          <a:noFill/>
        </p:spPr>
        <p:txBody>
          <a:bodyPr wrap="square" rtlCol="0">
            <a:spAutoFit/>
          </a:bodyPr>
          <a:lstStyle/>
          <a:p>
            <a:r>
              <a:rPr lang="en-IN" dirty="0"/>
              <a:t>x</a:t>
            </a:r>
          </a:p>
        </p:txBody>
      </p:sp>
      <p:sp>
        <p:nvSpPr>
          <p:cNvPr id="10" name="TextBox 9"/>
          <p:cNvSpPr txBox="1"/>
          <p:nvPr/>
        </p:nvSpPr>
        <p:spPr>
          <a:xfrm>
            <a:off x="1181100" y="2546866"/>
            <a:ext cx="838200" cy="369332"/>
          </a:xfrm>
          <a:prstGeom prst="rect">
            <a:avLst/>
          </a:prstGeom>
          <a:noFill/>
        </p:spPr>
        <p:txBody>
          <a:bodyPr wrap="square" rtlCol="0">
            <a:spAutoFit/>
          </a:bodyPr>
          <a:lstStyle/>
          <a:p>
            <a:r>
              <a:rPr lang="en-IN" dirty="0"/>
              <a:t>1,20</a:t>
            </a:r>
          </a:p>
        </p:txBody>
      </p:sp>
      <p:sp>
        <p:nvSpPr>
          <p:cNvPr id="11" name="TextBox 10"/>
          <p:cNvSpPr txBox="1"/>
          <p:nvPr/>
        </p:nvSpPr>
        <p:spPr>
          <a:xfrm>
            <a:off x="2476499" y="2536984"/>
            <a:ext cx="685801" cy="369332"/>
          </a:xfrm>
          <a:prstGeom prst="rect">
            <a:avLst/>
          </a:prstGeom>
          <a:noFill/>
        </p:spPr>
        <p:txBody>
          <a:bodyPr wrap="square" rtlCol="0">
            <a:spAutoFit/>
          </a:bodyPr>
          <a:lstStyle/>
          <a:p>
            <a:r>
              <a:rPr lang="en-IN" dirty="0"/>
              <a:t>8.2</a:t>
            </a:r>
          </a:p>
        </p:txBody>
      </p:sp>
      <p:sp>
        <p:nvSpPr>
          <p:cNvPr id="12" name="TextBox 11"/>
          <p:cNvSpPr txBox="1"/>
          <p:nvPr/>
        </p:nvSpPr>
        <p:spPr>
          <a:xfrm>
            <a:off x="1181100" y="2942391"/>
            <a:ext cx="838200" cy="369332"/>
          </a:xfrm>
          <a:prstGeom prst="rect">
            <a:avLst/>
          </a:prstGeom>
          <a:noFill/>
        </p:spPr>
        <p:txBody>
          <a:bodyPr wrap="square" rtlCol="0">
            <a:spAutoFit/>
          </a:bodyPr>
          <a:lstStyle/>
          <a:p>
            <a:r>
              <a:rPr lang="en-IN" dirty="0"/>
              <a:t>2,35</a:t>
            </a:r>
          </a:p>
        </p:txBody>
      </p:sp>
      <p:sp>
        <p:nvSpPr>
          <p:cNvPr id="13" name="TextBox 12"/>
          <p:cNvSpPr txBox="1"/>
          <p:nvPr/>
        </p:nvSpPr>
        <p:spPr>
          <a:xfrm>
            <a:off x="2497001" y="2942391"/>
            <a:ext cx="685801" cy="369332"/>
          </a:xfrm>
          <a:prstGeom prst="rect">
            <a:avLst/>
          </a:prstGeom>
          <a:noFill/>
        </p:spPr>
        <p:txBody>
          <a:bodyPr wrap="square" rtlCol="0">
            <a:spAutoFit/>
          </a:bodyPr>
          <a:lstStyle/>
          <a:p>
            <a:r>
              <a:rPr lang="en-IN" dirty="0"/>
              <a:t>9.7</a:t>
            </a:r>
          </a:p>
        </p:txBody>
      </p:sp>
      <p:sp>
        <p:nvSpPr>
          <p:cNvPr id="14" name="TextBox 13"/>
          <p:cNvSpPr txBox="1"/>
          <p:nvPr/>
        </p:nvSpPr>
        <p:spPr>
          <a:xfrm>
            <a:off x="1181100" y="3337916"/>
            <a:ext cx="838200" cy="369332"/>
          </a:xfrm>
          <a:prstGeom prst="rect">
            <a:avLst/>
          </a:prstGeom>
          <a:noFill/>
        </p:spPr>
        <p:txBody>
          <a:bodyPr wrap="square" rtlCol="0">
            <a:spAutoFit/>
          </a:bodyPr>
          <a:lstStyle/>
          <a:p>
            <a:r>
              <a:rPr lang="en-IN" dirty="0"/>
              <a:t>4,50</a:t>
            </a:r>
          </a:p>
        </p:txBody>
      </p:sp>
      <p:sp>
        <p:nvSpPr>
          <p:cNvPr id="15" name="TextBox 14"/>
          <p:cNvSpPr txBox="1"/>
          <p:nvPr/>
        </p:nvSpPr>
        <p:spPr>
          <a:xfrm>
            <a:off x="2358391" y="3337916"/>
            <a:ext cx="838200" cy="369332"/>
          </a:xfrm>
          <a:prstGeom prst="rect">
            <a:avLst/>
          </a:prstGeom>
          <a:noFill/>
        </p:spPr>
        <p:txBody>
          <a:bodyPr wrap="square" rtlCol="0">
            <a:spAutoFit/>
          </a:bodyPr>
          <a:lstStyle/>
          <a:p>
            <a:r>
              <a:rPr lang="en-IN" dirty="0"/>
              <a:t>13.6</a:t>
            </a:r>
          </a:p>
        </p:txBody>
      </p:sp>
      <p:cxnSp>
        <p:nvCxnSpPr>
          <p:cNvPr id="17" name="Straight Connector 16"/>
          <p:cNvCxnSpPr/>
          <p:nvPr/>
        </p:nvCxnSpPr>
        <p:spPr>
          <a:xfrm>
            <a:off x="1181100" y="3810000"/>
            <a:ext cx="200170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181100" y="3898066"/>
            <a:ext cx="838200" cy="369332"/>
          </a:xfrm>
          <a:prstGeom prst="rect">
            <a:avLst/>
          </a:prstGeom>
          <a:noFill/>
        </p:spPr>
        <p:txBody>
          <a:bodyPr wrap="square" rtlCol="0">
            <a:spAutoFit/>
          </a:bodyPr>
          <a:lstStyle/>
          <a:p>
            <a:r>
              <a:rPr lang="en-IN" dirty="0"/>
              <a:t>5,60</a:t>
            </a:r>
          </a:p>
        </p:txBody>
      </p:sp>
      <p:sp>
        <p:nvSpPr>
          <p:cNvPr id="3" name="Oval 2"/>
          <p:cNvSpPr/>
          <p:nvPr/>
        </p:nvSpPr>
        <p:spPr>
          <a:xfrm>
            <a:off x="4201264" y="1594485"/>
            <a:ext cx="762000" cy="7658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p:cNvSpPr/>
          <p:nvPr/>
        </p:nvSpPr>
        <p:spPr>
          <a:xfrm>
            <a:off x="4201264" y="4082732"/>
            <a:ext cx="762000" cy="7658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p:cNvSpPr/>
          <p:nvPr/>
        </p:nvSpPr>
        <p:spPr>
          <a:xfrm>
            <a:off x="7277100" y="2822130"/>
            <a:ext cx="685800" cy="705445"/>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Arrow Connector 18"/>
          <p:cNvCxnSpPr>
            <a:endCxn id="3" idx="1"/>
          </p:cNvCxnSpPr>
          <p:nvPr/>
        </p:nvCxnSpPr>
        <p:spPr>
          <a:xfrm>
            <a:off x="3972664" y="1445895"/>
            <a:ext cx="340192" cy="2607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endCxn id="16" idx="3"/>
          </p:cNvCxnSpPr>
          <p:nvPr/>
        </p:nvCxnSpPr>
        <p:spPr>
          <a:xfrm flipV="1">
            <a:off x="3919324" y="4736392"/>
            <a:ext cx="393532" cy="3350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4" idx="6"/>
          </p:cNvCxnSpPr>
          <p:nvPr/>
        </p:nvCxnSpPr>
        <p:spPr>
          <a:xfrm flipV="1">
            <a:off x="7962900" y="3174852"/>
            <a:ext cx="381000"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343900" y="2993668"/>
            <a:ext cx="1181099" cy="369332"/>
          </a:xfrm>
          <a:prstGeom prst="rect">
            <a:avLst/>
          </a:prstGeom>
          <a:noFill/>
        </p:spPr>
        <p:txBody>
          <a:bodyPr wrap="square" rtlCol="0">
            <a:spAutoFit/>
          </a:bodyPr>
          <a:lstStyle/>
          <a:p>
            <a:r>
              <a:rPr lang="en-IN" dirty="0"/>
              <a:t>Economy</a:t>
            </a:r>
          </a:p>
        </p:txBody>
      </p:sp>
      <p:sp>
        <p:nvSpPr>
          <p:cNvPr id="30" name="Oval 29"/>
          <p:cNvSpPr/>
          <p:nvPr/>
        </p:nvSpPr>
        <p:spPr>
          <a:xfrm>
            <a:off x="6014049" y="1992868"/>
            <a:ext cx="685800" cy="705445"/>
          </a:xfrm>
          <a:prstGeom prst="ellipse">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p:cNvSpPr/>
          <p:nvPr/>
        </p:nvSpPr>
        <p:spPr>
          <a:xfrm>
            <a:off x="6032675" y="2817137"/>
            <a:ext cx="685800" cy="705445"/>
          </a:xfrm>
          <a:prstGeom prst="ellipse">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p:cNvSpPr/>
          <p:nvPr/>
        </p:nvSpPr>
        <p:spPr>
          <a:xfrm>
            <a:off x="6032675" y="3625496"/>
            <a:ext cx="685800" cy="705445"/>
          </a:xfrm>
          <a:prstGeom prst="ellipse">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4" name="Straight Connector 33"/>
          <p:cNvCxnSpPr>
            <a:stCxn id="16" idx="6"/>
            <a:endCxn id="32" idx="2"/>
          </p:cNvCxnSpPr>
          <p:nvPr/>
        </p:nvCxnSpPr>
        <p:spPr>
          <a:xfrm flipV="1">
            <a:off x="4963264" y="3978219"/>
            <a:ext cx="1069411" cy="48741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16" idx="6"/>
            <a:endCxn id="31" idx="2"/>
          </p:cNvCxnSpPr>
          <p:nvPr/>
        </p:nvCxnSpPr>
        <p:spPr>
          <a:xfrm flipV="1">
            <a:off x="4963264" y="3169860"/>
            <a:ext cx="1069411" cy="129577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16" idx="6"/>
            <a:endCxn id="30" idx="2"/>
          </p:cNvCxnSpPr>
          <p:nvPr/>
        </p:nvCxnSpPr>
        <p:spPr>
          <a:xfrm flipV="1">
            <a:off x="4963264" y="2345591"/>
            <a:ext cx="1050785" cy="212004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3" idx="6"/>
            <a:endCxn id="32" idx="2"/>
          </p:cNvCxnSpPr>
          <p:nvPr/>
        </p:nvCxnSpPr>
        <p:spPr>
          <a:xfrm>
            <a:off x="4963264" y="1977390"/>
            <a:ext cx="1069411" cy="200082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 idx="6"/>
            <a:endCxn id="31" idx="2"/>
          </p:cNvCxnSpPr>
          <p:nvPr/>
        </p:nvCxnSpPr>
        <p:spPr>
          <a:xfrm>
            <a:off x="4963264" y="1977390"/>
            <a:ext cx="1069411" cy="119247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 idx="6"/>
            <a:endCxn id="30" idx="2"/>
          </p:cNvCxnSpPr>
          <p:nvPr/>
        </p:nvCxnSpPr>
        <p:spPr>
          <a:xfrm>
            <a:off x="4963264" y="1977390"/>
            <a:ext cx="1050785" cy="36820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31" idx="6"/>
            <a:endCxn id="4" idx="2"/>
          </p:cNvCxnSpPr>
          <p:nvPr/>
        </p:nvCxnSpPr>
        <p:spPr>
          <a:xfrm>
            <a:off x="6718475" y="3169860"/>
            <a:ext cx="558625" cy="499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30" idx="6"/>
            <a:endCxn id="4" idx="2"/>
          </p:cNvCxnSpPr>
          <p:nvPr/>
        </p:nvCxnSpPr>
        <p:spPr>
          <a:xfrm>
            <a:off x="6699849" y="2345591"/>
            <a:ext cx="577251" cy="82926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32" idx="6"/>
            <a:endCxn id="4" idx="2"/>
          </p:cNvCxnSpPr>
          <p:nvPr/>
        </p:nvCxnSpPr>
        <p:spPr>
          <a:xfrm flipV="1">
            <a:off x="6718475" y="3174853"/>
            <a:ext cx="558625" cy="8033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7334674" y="3062918"/>
            <a:ext cx="609600" cy="230832"/>
          </a:xfrm>
          <a:prstGeom prst="rect">
            <a:avLst/>
          </a:prstGeom>
          <a:noFill/>
        </p:spPr>
        <p:txBody>
          <a:bodyPr wrap="square" rtlCol="0">
            <a:spAutoFit/>
          </a:bodyPr>
          <a:lstStyle/>
          <a:p>
            <a:r>
              <a:rPr lang="en-IN" sz="900" dirty="0"/>
              <a:t>Neuron</a:t>
            </a:r>
          </a:p>
        </p:txBody>
      </p:sp>
      <p:sp>
        <p:nvSpPr>
          <p:cNvPr id="52" name="TextBox 51"/>
          <p:cNvSpPr txBox="1"/>
          <p:nvPr/>
        </p:nvSpPr>
        <p:spPr>
          <a:xfrm>
            <a:off x="6078945" y="2205883"/>
            <a:ext cx="609600" cy="230832"/>
          </a:xfrm>
          <a:prstGeom prst="rect">
            <a:avLst/>
          </a:prstGeom>
          <a:noFill/>
        </p:spPr>
        <p:txBody>
          <a:bodyPr wrap="square" rtlCol="0">
            <a:spAutoFit/>
          </a:bodyPr>
          <a:lstStyle/>
          <a:p>
            <a:r>
              <a:rPr lang="en-IN" sz="900" dirty="0"/>
              <a:t>Neuron</a:t>
            </a:r>
          </a:p>
        </p:txBody>
      </p:sp>
      <p:sp>
        <p:nvSpPr>
          <p:cNvPr id="53" name="TextBox 52"/>
          <p:cNvSpPr txBox="1"/>
          <p:nvPr/>
        </p:nvSpPr>
        <p:spPr>
          <a:xfrm>
            <a:off x="6090247" y="3065791"/>
            <a:ext cx="609600" cy="230832"/>
          </a:xfrm>
          <a:prstGeom prst="rect">
            <a:avLst/>
          </a:prstGeom>
          <a:noFill/>
        </p:spPr>
        <p:txBody>
          <a:bodyPr wrap="square" rtlCol="0">
            <a:spAutoFit/>
          </a:bodyPr>
          <a:lstStyle/>
          <a:p>
            <a:r>
              <a:rPr lang="en-IN" sz="900" dirty="0"/>
              <a:t>Neuron</a:t>
            </a:r>
          </a:p>
        </p:txBody>
      </p:sp>
      <p:sp>
        <p:nvSpPr>
          <p:cNvPr id="54" name="TextBox 53"/>
          <p:cNvSpPr txBox="1"/>
          <p:nvPr/>
        </p:nvSpPr>
        <p:spPr>
          <a:xfrm>
            <a:off x="6090247" y="3878712"/>
            <a:ext cx="609600" cy="230832"/>
          </a:xfrm>
          <a:prstGeom prst="rect">
            <a:avLst/>
          </a:prstGeom>
          <a:noFill/>
        </p:spPr>
        <p:txBody>
          <a:bodyPr wrap="square" rtlCol="0">
            <a:spAutoFit/>
          </a:bodyPr>
          <a:lstStyle/>
          <a:p>
            <a:r>
              <a:rPr lang="en-IN" sz="900" dirty="0"/>
              <a:t>Neuron</a:t>
            </a:r>
          </a:p>
        </p:txBody>
      </p:sp>
      <p:sp>
        <p:nvSpPr>
          <p:cNvPr id="55" name="TextBox 54"/>
          <p:cNvSpPr txBox="1"/>
          <p:nvPr/>
        </p:nvSpPr>
        <p:spPr>
          <a:xfrm rot="3333769">
            <a:off x="6703932" y="2590133"/>
            <a:ext cx="693389" cy="230832"/>
          </a:xfrm>
          <a:prstGeom prst="rect">
            <a:avLst/>
          </a:prstGeom>
          <a:noFill/>
        </p:spPr>
        <p:txBody>
          <a:bodyPr wrap="square" rtlCol="0">
            <a:spAutoFit/>
          </a:bodyPr>
          <a:lstStyle/>
          <a:p>
            <a:r>
              <a:rPr lang="en-IN" sz="900" dirty="0"/>
              <a:t>Synapse</a:t>
            </a:r>
          </a:p>
        </p:txBody>
      </p:sp>
      <p:sp>
        <p:nvSpPr>
          <p:cNvPr id="56" name="TextBox 55"/>
          <p:cNvSpPr txBox="1"/>
          <p:nvPr/>
        </p:nvSpPr>
        <p:spPr>
          <a:xfrm rot="18299369">
            <a:off x="6591204" y="3422185"/>
            <a:ext cx="693389" cy="230832"/>
          </a:xfrm>
          <a:prstGeom prst="rect">
            <a:avLst/>
          </a:prstGeom>
          <a:noFill/>
        </p:spPr>
        <p:txBody>
          <a:bodyPr wrap="square" rtlCol="0">
            <a:spAutoFit/>
          </a:bodyPr>
          <a:lstStyle/>
          <a:p>
            <a:r>
              <a:rPr lang="en-IN" sz="900" dirty="0"/>
              <a:t>Synapse</a:t>
            </a:r>
          </a:p>
        </p:txBody>
      </p:sp>
      <p:sp>
        <p:nvSpPr>
          <p:cNvPr id="57" name="TextBox 56"/>
          <p:cNvSpPr txBox="1"/>
          <p:nvPr/>
        </p:nvSpPr>
        <p:spPr>
          <a:xfrm>
            <a:off x="6687922" y="3003226"/>
            <a:ext cx="693389" cy="230832"/>
          </a:xfrm>
          <a:prstGeom prst="rect">
            <a:avLst/>
          </a:prstGeom>
          <a:noFill/>
        </p:spPr>
        <p:txBody>
          <a:bodyPr wrap="square" rtlCol="0">
            <a:spAutoFit/>
          </a:bodyPr>
          <a:lstStyle/>
          <a:p>
            <a:r>
              <a:rPr lang="en-IN" sz="900" dirty="0"/>
              <a:t>Synapse</a:t>
            </a:r>
          </a:p>
        </p:txBody>
      </p:sp>
      <p:sp>
        <p:nvSpPr>
          <p:cNvPr id="43" name="TextBox 42"/>
          <p:cNvSpPr txBox="1"/>
          <p:nvPr/>
        </p:nvSpPr>
        <p:spPr>
          <a:xfrm>
            <a:off x="2562964" y="3918106"/>
            <a:ext cx="838200" cy="369332"/>
          </a:xfrm>
          <a:prstGeom prst="rect">
            <a:avLst/>
          </a:prstGeom>
          <a:noFill/>
        </p:spPr>
        <p:txBody>
          <a:bodyPr wrap="square" rtlCol="0">
            <a:spAutoFit/>
          </a:bodyPr>
          <a:lstStyle/>
          <a:p>
            <a:r>
              <a:rPr lang="en-IN" dirty="0"/>
              <a:t>?</a:t>
            </a:r>
          </a:p>
        </p:txBody>
      </p:sp>
      <p:sp>
        <p:nvSpPr>
          <p:cNvPr id="6" name="Rectangle: Rounded Corners 5"/>
          <p:cNvSpPr/>
          <p:nvPr/>
        </p:nvSpPr>
        <p:spPr>
          <a:xfrm>
            <a:off x="4056410" y="868363"/>
            <a:ext cx="1163289" cy="5075237"/>
          </a:xfrm>
          <a:prstGeom prst="roundRect">
            <a:avLst/>
          </a:prstGeom>
          <a:solidFill>
            <a:schemeClr val="accent1">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3529488" y="5033280"/>
            <a:ext cx="952501" cy="369332"/>
          </a:xfrm>
          <a:prstGeom prst="rect">
            <a:avLst/>
          </a:prstGeom>
          <a:noFill/>
        </p:spPr>
        <p:txBody>
          <a:bodyPr wrap="square" rtlCol="0">
            <a:spAutoFit/>
          </a:bodyPr>
          <a:lstStyle/>
          <a:p>
            <a:r>
              <a:rPr lang="en-IN" dirty="0"/>
              <a:t>Speed</a:t>
            </a:r>
          </a:p>
        </p:txBody>
      </p:sp>
      <p:sp>
        <p:nvSpPr>
          <p:cNvPr id="22" name="TextBox 21"/>
          <p:cNvSpPr txBox="1"/>
          <p:nvPr/>
        </p:nvSpPr>
        <p:spPr>
          <a:xfrm>
            <a:off x="3586639" y="1141095"/>
            <a:ext cx="838200" cy="369332"/>
          </a:xfrm>
          <a:prstGeom prst="rect">
            <a:avLst/>
          </a:prstGeom>
          <a:noFill/>
        </p:spPr>
        <p:txBody>
          <a:bodyPr wrap="square" rtlCol="0">
            <a:spAutoFit/>
          </a:bodyPr>
          <a:lstStyle/>
          <a:p>
            <a:r>
              <a:rPr lang="en-IN" dirty="0"/>
              <a:t>Gear</a:t>
            </a:r>
          </a:p>
        </p:txBody>
      </p:sp>
    </p:spTree>
    <p:extLst>
      <p:ext uri="{BB962C8B-B14F-4D97-AF65-F5344CB8AC3E}">
        <p14:creationId xmlns:p14="http://schemas.microsoft.com/office/powerpoint/2010/main" val="2124469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5" grpId="0" animBg="1"/>
      <p:bldP spid="51" grpId="0"/>
      <p:bldP spid="52" grpId="0"/>
      <p:bldP spid="53" grpId="0"/>
      <p:bldP spid="54" grpId="0"/>
      <p:bldP spid="55" grpId="0"/>
      <p:bldP spid="56" grpId="0"/>
      <p:bldP spid="57" grpId="0"/>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Synapses</a:t>
            </a:r>
          </a:p>
        </p:txBody>
      </p:sp>
      <p:sp>
        <p:nvSpPr>
          <p:cNvPr id="3" name="Oval 2"/>
          <p:cNvSpPr/>
          <p:nvPr/>
        </p:nvSpPr>
        <p:spPr>
          <a:xfrm>
            <a:off x="2171700" y="1676400"/>
            <a:ext cx="762000" cy="7658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p:cNvSpPr/>
          <p:nvPr/>
        </p:nvSpPr>
        <p:spPr>
          <a:xfrm>
            <a:off x="2171700" y="4164647"/>
            <a:ext cx="762000" cy="7658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p:cNvSpPr/>
          <p:nvPr/>
        </p:nvSpPr>
        <p:spPr>
          <a:xfrm>
            <a:off x="6815077" y="2904045"/>
            <a:ext cx="685800" cy="705445"/>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p:cNvSpPr/>
          <p:nvPr/>
        </p:nvSpPr>
        <p:spPr>
          <a:xfrm>
            <a:off x="4235690" y="2074783"/>
            <a:ext cx="685800" cy="705445"/>
          </a:xfrm>
          <a:prstGeom prst="ellipse">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p:cNvSpPr/>
          <p:nvPr/>
        </p:nvSpPr>
        <p:spPr>
          <a:xfrm>
            <a:off x="4254316" y="2899052"/>
            <a:ext cx="685800" cy="705445"/>
          </a:xfrm>
          <a:prstGeom prst="ellipse">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p:cNvSpPr/>
          <p:nvPr/>
        </p:nvSpPr>
        <p:spPr>
          <a:xfrm>
            <a:off x="4254316" y="3707411"/>
            <a:ext cx="685800" cy="705445"/>
          </a:xfrm>
          <a:prstGeom prst="ellipse">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4" name="Straight Connector 33"/>
          <p:cNvCxnSpPr>
            <a:stCxn id="16" idx="6"/>
            <a:endCxn id="32" idx="2"/>
          </p:cNvCxnSpPr>
          <p:nvPr/>
        </p:nvCxnSpPr>
        <p:spPr>
          <a:xfrm flipV="1">
            <a:off x="2933700" y="4060134"/>
            <a:ext cx="1320616" cy="48741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16" idx="6"/>
            <a:endCxn id="31" idx="2"/>
          </p:cNvCxnSpPr>
          <p:nvPr/>
        </p:nvCxnSpPr>
        <p:spPr>
          <a:xfrm flipV="1">
            <a:off x="2933700" y="3251775"/>
            <a:ext cx="1320616" cy="129577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16" idx="6"/>
            <a:endCxn id="30" idx="2"/>
          </p:cNvCxnSpPr>
          <p:nvPr/>
        </p:nvCxnSpPr>
        <p:spPr>
          <a:xfrm flipV="1">
            <a:off x="2933700" y="2427506"/>
            <a:ext cx="1301990" cy="212004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3" idx="6"/>
            <a:endCxn id="32" idx="2"/>
          </p:cNvCxnSpPr>
          <p:nvPr/>
        </p:nvCxnSpPr>
        <p:spPr>
          <a:xfrm>
            <a:off x="2933700" y="2059305"/>
            <a:ext cx="1320616" cy="200082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 idx="6"/>
            <a:endCxn id="31" idx="2"/>
          </p:cNvCxnSpPr>
          <p:nvPr/>
        </p:nvCxnSpPr>
        <p:spPr>
          <a:xfrm>
            <a:off x="2933700" y="2059305"/>
            <a:ext cx="1320616" cy="119247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 idx="6"/>
            <a:endCxn id="30" idx="2"/>
          </p:cNvCxnSpPr>
          <p:nvPr/>
        </p:nvCxnSpPr>
        <p:spPr>
          <a:xfrm>
            <a:off x="2933700" y="2059305"/>
            <a:ext cx="1301990" cy="36820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31" idx="6"/>
            <a:endCxn id="4" idx="2"/>
          </p:cNvCxnSpPr>
          <p:nvPr/>
        </p:nvCxnSpPr>
        <p:spPr>
          <a:xfrm>
            <a:off x="4940116" y="3251775"/>
            <a:ext cx="1874961" cy="499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30" idx="6"/>
            <a:endCxn id="4" idx="2"/>
          </p:cNvCxnSpPr>
          <p:nvPr/>
        </p:nvCxnSpPr>
        <p:spPr>
          <a:xfrm>
            <a:off x="4921490" y="2427506"/>
            <a:ext cx="1893587" cy="82926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32" idx="6"/>
            <a:endCxn id="4" idx="2"/>
          </p:cNvCxnSpPr>
          <p:nvPr/>
        </p:nvCxnSpPr>
        <p:spPr>
          <a:xfrm flipV="1">
            <a:off x="4940116" y="3256768"/>
            <a:ext cx="1874961" cy="8033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423139" y="1890117"/>
            <a:ext cx="411039" cy="369332"/>
          </a:xfrm>
          <a:prstGeom prst="rect">
            <a:avLst/>
          </a:prstGeom>
          <a:noFill/>
        </p:spPr>
        <p:txBody>
          <a:bodyPr wrap="square" rtlCol="0">
            <a:spAutoFit/>
          </a:bodyPr>
          <a:lstStyle/>
          <a:p>
            <a:r>
              <a:rPr lang="en-IN" dirty="0"/>
              <a:t>3</a:t>
            </a:r>
          </a:p>
        </p:txBody>
      </p:sp>
      <p:sp>
        <p:nvSpPr>
          <p:cNvPr id="45" name="TextBox 44"/>
          <p:cNvSpPr txBox="1"/>
          <p:nvPr/>
        </p:nvSpPr>
        <p:spPr>
          <a:xfrm>
            <a:off x="4353838" y="2218530"/>
            <a:ext cx="520151" cy="553998"/>
          </a:xfrm>
          <a:prstGeom prst="rect">
            <a:avLst/>
          </a:prstGeom>
          <a:noFill/>
        </p:spPr>
        <p:txBody>
          <a:bodyPr wrap="square" rtlCol="0">
            <a:spAutoFit/>
          </a:bodyPr>
          <a:lstStyle/>
          <a:p>
            <a:r>
              <a:rPr lang="en-IN" sz="1200" dirty="0"/>
              <a:t>3*2=</a:t>
            </a:r>
          </a:p>
          <a:p>
            <a:r>
              <a:rPr lang="en-IN" dirty="0"/>
              <a:t>6</a:t>
            </a:r>
          </a:p>
        </p:txBody>
      </p:sp>
      <p:sp>
        <p:nvSpPr>
          <p:cNvPr id="47" name="TextBox 46"/>
          <p:cNvSpPr txBox="1"/>
          <p:nvPr/>
        </p:nvSpPr>
        <p:spPr>
          <a:xfrm flipH="1">
            <a:off x="3454308" y="1940088"/>
            <a:ext cx="304800" cy="369333"/>
          </a:xfrm>
          <a:prstGeom prst="rect">
            <a:avLst/>
          </a:prstGeom>
          <a:noFill/>
        </p:spPr>
        <p:txBody>
          <a:bodyPr wrap="square" rtlCol="0">
            <a:spAutoFit/>
          </a:bodyPr>
          <a:lstStyle/>
          <a:p>
            <a:r>
              <a:rPr lang="en-IN" dirty="0"/>
              <a:t>2</a:t>
            </a:r>
          </a:p>
        </p:txBody>
      </p:sp>
    </p:spTree>
    <p:extLst>
      <p:ext uri="{BB962C8B-B14F-4D97-AF65-F5344CB8AC3E}">
        <p14:creationId xmlns:p14="http://schemas.microsoft.com/office/powerpoint/2010/main" val="50766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Neurons</a:t>
            </a:r>
          </a:p>
        </p:txBody>
      </p:sp>
      <p:sp>
        <p:nvSpPr>
          <p:cNvPr id="3" name="Oval 2"/>
          <p:cNvSpPr/>
          <p:nvPr/>
        </p:nvSpPr>
        <p:spPr>
          <a:xfrm>
            <a:off x="2171700" y="1676400"/>
            <a:ext cx="762000" cy="76581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p:cNvSpPr/>
          <p:nvPr/>
        </p:nvSpPr>
        <p:spPr>
          <a:xfrm>
            <a:off x="2171700" y="4164647"/>
            <a:ext cx="762000" cy="76581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p:cNvSpPr/>
          <p:nvPr/>
        </p:nvSpPr>
        <p:spPr>
          <a:xfrm>
            <a:off x="6815077" y="2904045"/>
            <a:ext cx="685800" cy="705445"/>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p:cNvSpPr/>
          <p:nvPr/>
        </p:nvSpPr>
        <p:spPr>
          <a:xfrm>
            <a:off x="4235690" y="2074783"/>
            <a:ext cx="685800" cy="705445"/>
          </a:xfrm>
          <a:prstGeom prst="ellipse">
            <a:avLst/>
          </a:prstGeom>
          <a:solidFill>
            <a:schemeClr val="bg2">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p:cNvSpPr/>
          <p:nvPr/>
        </p:nvSpPr>
        <p:spPr>
          <a:xfrm>
            <a:off x="4254316" y="2899052"/>
            <a:ext cx="685800" cy="705445"/>
          </a:xfrm>
          <a:prstGeom prst="ellipse">
            <a:avLst/>
          </a:prstGeom>
          <a:solidFill>
            <a:schemeClr val="bg2">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p:cNvSpPr/>
          <p:nvPr/>
        </p:nvSpPr>
        <p:spPr>
          <a:xfrm>
            <a:off x="4254316" y="3707411"/>
            <a:ext cx="685800" cy="705445"/>
          </a:xfrm>
          <a:prstGeom prst="ellipse">
            <a:avLst/>
          </a:prstGeom>
          <a:solidFill>
            <a:schemeClr val="bg2">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4" name="Straight Connector 33"/>
          <p:cNvCxnSpPr>
            <a:stCxn id="16" idx="6"/>
            <a:endCxn id="32" idx="2"/>
          </p:cNvCxnSpPr>
          <p:nvPr/>
        </p:nvCxnSpPr>
        <p:spPr>
          <a:xfrm flipV="1">
            <a:off x="2933700" y="4060134"/>
            <a:ext cx="1320616" cy="48741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16" idx="6"/>
            <a:endCxn id="31" idx="2"/>
          </p:cNvCxnSpPr>
          <p:nvPr/>
        </p:nvCxnSpPr>
        <p:spPr>
          <a:xfrm flipV="1">
            <a:off x="2933700" y="3251775"/>
            <a:ext cx="1320616" cy="129577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16" idx="6"/>
            <a:endCxn id="30" idx="2"/>
          </p:cNvCxnSpPr>
          <p:nvPr/>
        </p:nvCxnSpPr>
        <p:spPr>
          <a:xfrm flipV="1">
            <a:off x="2933700" y="2427506"/>
            <a:ext cx="1301990" cy="212004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3" idx="6"/>
            <a:endCxn id="32" idx="2"/>
          </p:cNvCxnSpPr>
          <p:nvPr/>
        </p:nvCxnSpPr>
        <p:spPr>
          <a:xfrm>
            <a:off x="2933700" y="2059305"/>
            <a:ext cx="1320616" cy="2000829"/>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 idx="6"/>
            <a:endCxn id="31" idx="2"/>
          </p:cNvCxnSpPr>
          <p:nvPr/>
        </p:nvCxnSpPr>
        <p:spPr>
          <a:xfrm>
            <a:off x="2933700" y="2059305"/>
            <a:ext cx="1320616" cy="119247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 idx="6"/>
            <a:endCxn id="30" idx="2"/>
          </p:cNvCxnSpPr>
          <p:nvPr/>
        </p:nvCxnSpPr>
        <p:spPr>
          <a:xfrm>
            <a:off x="2933700" y="2059305"/>
            <a:ext cx="1301990" cy="36820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31" idx="6"/>
            <a:endCxn id="4" idx="2"/>
          </p:cNvCxnSpPr>
          <p:nvPr/>
        </p:nvCxnSpPr>
        <p:spPr>
          <a:xfrm>
            <a:off x="4940116" y="3251775"/>
            <a:ext cx="1874961" cy="4993"/>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30" idx="6"/>
            <a:endCxn id="4" idx="2"/>
          </p:cNvCxnSpPr>
          <p:nvPr/>
        </p:nvCxnSpPr>
        <p:spPr>
          <a:xfrm>
            <a:off x="4921490" y="2427506"/>
            <a:ext cx="1893587" cy="829262"/>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32" idx="6"/>
            <a:endCxn id="4" idx="2"/>
          </p:cNvCxnSpPr>
          <p:nvPr/>
        </p:nvCxnSpPr>
        <p:spPr>
          <a:xfrm flipV="1">
            <a:off x="4940116" y="3256768"/>
            <a:ext cx="1874961" cy="803366"/>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5376277" y="2315160"/>
            <a:ext cx="452377" cy="369332"/>
          </a:xfrm>
          <a:prstGeom prst="rect">
            <a:avLst/>
          </a:prstGeom>
          <a:noFill/>
        </p:spPr>
        <p:txBody>
          <a:bodyPr wrap="square" rtlCol="0">
            <a:spAutoFit/>
          </a:bodyPr>
          <a:lstStyle/>
          <a:p>
            <a:r>
              <a:rPr lang="en-IN" dirty="0"/>
              <a:t>x</a:t>
            </a:r>
            <a:r>
              <a:rPr lang="en-IN" baseline="-25000" dirty="0"/>
              <a:t>1</a:t>
            </a:r>
          </a:p>
        </p:txBody>
      </p:sp>
      <p:sp>
        <p:nvSpPr>
          <p:cNvPr id="22" name="TextBox 21"/>
          <p:cNvSpPr txBox="1"/>
          <p:nvPr/>
        </p:nvSpPr>
        <p:spPr>
          <a:xfrm>
            <a:off x="5425219" y="2925161"/>
            <a:ext cx="452377" cy="369332"/>
          </a:xfrm>
          <a:prstGeom prst="rect">
            <a:avLst/>
          </a:prstGeom>
          <a:noFill/>
        </p:spPr>
        <p:txBody>
          <a:bodyPr wrap="square" rtlCol="0">
            <a:spAutoFit/>
          </a:bodyPr>
          <a:lstStyle/>
          <a:p>
            <a:r>
              <a:rPr lang="en-IN" dirty="0"/>
              <a:t>x</a:t>
            </a:r>
            <a:r>
              <a:rPr lang="en-IN" baseline="-25000" dirty="0"/>
              <a:t>2</a:t>
            </a:r>
          </a:p>
        </p:txBody>
      </p:sp>
      <p:sp>
        <p:nvSpPr>
          <p:cNvPr id="23" name="TextBox 22"/>
          <p:cNvSpPr txBox="1"/>
          <p:nvPr/>
        </p:nvSpPr>
        <p:spPr>
          <a:xfrm>
            <a:off x="5376278" y="3454922"/>
            <a:ext cx="452377" cy="369332"/>
          </a:xfrm>
          <a:prstGeom prst="rect">
            <a:avLst/>
          </a:prstGeom>
          <a:noFill/>
        </p:spPr>
        <p:txBody>
          <a:bodyPr wrap="square" rtlCol="0">
            <a:spAutoFit/>
          </a:bodyPr>
          <a:lstStyle/>
          <a:p>
            <a:r>
              <a:rPr lang="en-IN" dirty="0"/>
              <a:t>x</a:t>
            </a:r>
            <a:r>
              <a:rPr lang="en-IN" baseline="-25000" dirty="0"/>
              <a:t>3</a:t>
            </a:r>
          </a:p>
        </p:txBody>
      </p:sp>
      <mc:AlternateContent xmlns:mc="http://schemas.openxmlformats.org/markup-compatibility/2006" xmlns:a14="http://schemas.microsoft.com/office/drawing/2010/main">
        <mc:Choice Requires="a14">
          <p:sp>
            <p:nvSpPr>
              <p:cNvPr id="7" name="TextBox 6"/>
              <p:cNvSpPr txBox="1"/>
              <p:nvPr/>
            </p:nvSpPr>
            <p:spPr>
              <a:xfrm>
                <a:off x="4838700" y="4724400"/>
                <a:ext cx="2156937" cy="1040157"/>
              </a:xfrm>
              <a:prstGeom prst="rect">
                <a:avLst/>
              </a:prstGeom>
              <a:noFill/>
            </p:spPr>
            <p:txBody>
              <a:bodyPr wrap="none" rtlCol="0">
                <a:spAutoFit/>
              </a:bodyPr>
              <a:lstStyle/>
              <a:p>
                <a:r>
                  <a:rPr lang="en-IN" dirty="0"/>
                  <a:t>Z= x</a:t>
                </a:r>
                <a:r>
                  <a:rPr lang="en-IN" baseline="-25000" dirty="0"/>
                  <a:t>1</a:t>
                </a:r>
                <a:r>
                  <a:rPr lang="en-IN" dirty="0"/>
                  <a:t> + x</a:t>
                </a:r>
                <a:r>
                  <a:rPr lang="en-IN" baseline="-25000" dirty="0"/>
                  <a:t>2</a:t>
                </a:r>
                <a:r>
                  <a:rPr lang="en-IN" dirty="0"/>
                  <a:t>+ x</a:t>
                </a:r>
                <a:r>
                  <a:rPr lang="en-IN" baseline="-25000" dirty="0"/>
                  <a:t>3</a:t>
                </a:r>
                <a:r>
                  <a:rPr lang="en-IN" dirty="0"/>
                  <a:t>= ∑x</a:t>
                </a:r>
                <a:r>
                  <a:rPr lang="en-IN" baseline="-25000" dirty="0"/>
                  <a:t>i</a:t>
                </a:r>
              </a:p>
              <a:p>
                <a:endParaRPr lang="en-IN" dirty="0"/>
              </a:p>
              <a:p>
                <a:r>
                  <a:rPr lang="en-IN" dirty="0"/>
                  <a:t>A= </a:t>
                </a:r>
                <a14:m>
                  <m:oMath xmlns:m="http://schemas.openxmlformats.org/officeDocument/2006/math">
                    <m:f>
                      <m:fPr>
                        <m:ctrlPr>
                          <a:rPr lang="en-IN"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m:rPr>
                            <m:nor/>
                          </m:rPr>
                          <a:rPr lang="en-IN" dirty="0"/>
                          <m:t>e</m:t>
                        </m:r>
                        <m:r>
                          <m:rPr>
                            <m:nor/>
                          </m:rPr>
                          <a:rPr lang="en-IN" baseline="30000" dirty="0"/>
                          <m:t>−</m:t>
                        </m:r>
                        <m:r>
                          <m:rPr>
                            <m:nor/>
                          </m:rPr>
                          <a:rPr lang="en-IN" baseline="30000" dirty="0"/>
                          <m:t>z</m:t>
                        </m:r>
                      </m:den>
                    </m:f>
                  </m:oMath>
                </a14:m>
                <a:endParaRPr lang="en-IN" baseline="30000" dirty="0"/>
              </a:p>
            </p:txBody>
          </p:sp>
        </mc:Choice>
        <mc:Fallback xmlns="">
          <p:sp>
            <p:nvSpPr>
              <p:cNvPr id="7" name="TextBox 6"/>
              <p:cNvSpPr txBox="1">
                <a:spLocks noRot="1" noChangeAspect="1" noMove="1" noResize="1" noEditPoints="1" noAdjustHandles="1" noChangeArrowheads="1" noChangeShapeType="1" noTextEdit="1"/>
              </p:cNvSpPr>
              <p:nvPr/>
            </p:nvSpPr>
            <p:spPr>
              <a:xfrm>
                <a:off x="4838700" y="4724400"/>
                <a:ext cx="2156937" cy="1040157"/>
              </a:xfrm>
              <a:prstGeom prst="rect">
                <a:avLst/>
              </a:prstGeom>
              <a:blipFill>
                <a:blip r:embed="rId3"/>
                <a:stretch>
                  <a:fillRect l="-2542" t="-2924" b="-2339"/>
                </a:stretch>
              </a:blipFill>
            </p:spPr>
            <p:txBody>
              <a:bodyPr/>
              <a:lstStyle/>
              <a:p>
                <a:r>
                  <a:rPr lang="en-US">
                    <a:noFill/>
                  </a:rPr>
                  <a:t> </a:t>
                </a:r>
              </a:p>
            </p:txBody>
          </p:sp>
        </mc:Fallback>
      </mc:AlternateContent>
    </p:spTree>
    <p:extLst>
      <p:ext uri="{BB962C8B-B14F-4D97-AF65-F5344CB8AC3E}">
        <p14:creationId xmlns:p14="http://schemas.microsoft.com/office/powerpoint/2010/main" val="2157172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Hyper-parameters</a:t>
            </a:r>
          </a:p>
        </p:txBody>
      </p:sp>
      <p:sp>
        <p:nvSpPr>
          <p:cNvPr id="3" name="Oval 2"/>
          <p:cNvSpPr/>
          <p:nvPr/>
        </p:nvSpPr>
        <p:spPr>
          <a:xfrm>
            <a:off x="2171700" y="1676400"/>
            <a:ext cx="762000" cy="7658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p:cNvSpPr/>
          <p:nvPr/>
        </p:nvSpPr>
        <p:spPr>
          <a:xfrm>
            <a:off x="2171700" y="4164647"/>
            <a:ext cx="762000" cy="7658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p:cNvSpPr/>
          <p:nvPr/>
        </p:nvSpPr>
        <p:spPr>
          <a:xfrm>
            <a:off x="6815077" y="2904045"/>
            <a:ext cx="685800" cy="705445"/>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p:cNvSpPr/>
          <p:nvPr/>
        </p:nvSpPr>
        <p:spPr>
          <a:xfrm>
            <a:off x="4235690" y="2074783"/>
            <a:ext cx="685800" cy="705445"/>
          </a:xfrm>
          <a:prstGeom prst="ellipse">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p:cNvSpPr/>
          <p:nvPr/>
        </p:nvSpPr>
        <p:spPr>
          <a:xfrm>
            <a:off x="4254316" y="2899052"/>
            <a:ext cx="685800" cy="705445"/>
          </a:xfrm>
          <a:prstGeom prst="ellipse">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p:cNvSpPr/>
          <p:nvPr/>
        </p:nvSpPr>
        <p:spPr>
          <a:xfrm>
            <a:off x="4254316" y="3707411"/>
            <a:ext cx="685800" cy="705445"/>
          </a:xfrm>
          <a:prstGeom prst="ellipse">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4" name="Straight Connector 33"/>
          <p:cNvCxnSpPr>
            <a:stCxn id="16" idx="6"/>
            <a:endCxn id="32" idx="2"/>
          </p:cNvCxnSpPr>
          <p:nvPr/>
        </p:nvCxnSpPr>
        <p:spPr>
          <a:xfrm flipV="1">
            <a:off x="2933700" y="4060134"/>
            <a:ext cx="1320616" cy="48741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16" idx="6"/>
            <a:endCxn id="31" idx="2"/>
          </p:cNvCxnSpPr>
          <p:nvPr/>
        </p:nvCxnSpPr>
        <p:spPr>
          <a:xfrm flipV="1">
            <a:off x="2933700" y="3251775"/>
            <a:ext cx="1320616" cy="129577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16" idx="6"/>
            <a:endCxn id="30" idx="2"/>
          </p:cNvCxnSpPr>
          <p:nvPr/>
        </p:nvCxnSpPr>
        <p:spPr>
          <a:xfrm flipV="1">
            <a:off x="2933700" y="2427506"/>
            <a:ext cx="1301990" cy="212004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3" idx="6"/>
            <a:endCxn id="32" idx="2"/>
          </p:cNvCxnSpPr>
          <p:nvPr/>
        </p:nvCxnSpPr>
        <p:spPr>
          <a:xfrm>
            <a:off x="2933700" y="2059305"/>
            <a:ext cx="1320616" cy="200082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 idx="6"/>
            <a:endCxn id="31" idx="2"/>
          </p:cNvCxnSpPr>
          <p:nvPr/>
        </p:nvCxnSpPr>
        <p:spPr>
          <a:xfrm>
            <a:off x="2933700" y="2059305"/>
            <a:ext cx="1320616" cy="119247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 idx="6"/>
            <a:endCxn id="30" idx="2"/>
          </p:cNvCxnSpPr>
          <p:nvPr/>
        </p:nvCxnSpPr>
        <p:spPr>
          <a:xfrm>
            <a:off x="2933700" y="2059305"/>
            <a:ext cx="1301990" cy="36820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31" idx="6"/>
            <a:endCxn id="4" idx="2"/>
          </p:cNvCxnSpPr>
          <p:nvPr/>
        </p:nvCxnSpPr>
        <p:spPr>
          <a:xfrm>
            <a:off x="4940116" y="3251775"/>
            <a:ext cx="1874961" cy="499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30" idx="6"/>
            <a:endCxn id="4" idx="2"/>
          </p:cNvCxnSpPr>
          <p:nvPr/>
        </p:nvCxnSpPr>
        <p:spPr>
          <a:xfrm>
            <a:off x="4921490" y="2427506"/>
            <a:ext cx="1893587" cy="82926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32" idx="6"/>
            <a:endCxn id="4" idx="2"/>
          </p:cNvCxnSpPr>
          <p:nvPr/>
        </p:nvCxnSpPr>
        <p:spPr>
          <a:xfrm flipV="1">
            <a:off x="4940116" y="3256768"/>
            <a:ext cx="1874961" cy="8033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104900" y="5658663"/>
            <a:ext cx="1659429" cy="369332"/>
          </a:xfrm>
          <a:prstGeom prst="rect">
            <a:avLst/>
          </a:prstGeom>
          <a:noFill/>
        </p:spPr>
        <p:txBody>
          <a:bodyPr wrap="none" rtlCol="0">
            <a:spAutoFit/>
          </a:bodyPr>
          <a:lstStyle/>
          <a:p>
            <a:r>
              <a:rPr lang="en-US" dirty="0"/>
              <a:t>Input Layer : ?</a:t>
            </a:r>
          </a:p>
        </p:txBody>
      </p:sp>
      <p:sp>
        <p:nvSpPr>
          <p:cNvPr id="19" name="TextBox 18"/>
          <p:cNvSpPr txBox="1"/>
          <p:nvPr/>
        </p:nvSpPr>
        <p:spPr>
          <a:xfrm>
            <a:off x="3982563" y="5670171"/>
            <a:ext cx="1877437" cy="369332"/>
          </a:xfrm>
          <a:prstGeom prst="rect">
            <a:avLst/>
          </a:prstGeom>
          <a:noFill/>
        </p:spPr>
        <p:txBody>
          <a:bodyPr wrap="none" rtlCol="0">
            <a:spAutoFit/>
          </a:bodyPr>
          <a:lstStyle/>
          <a:p>
            <a:r>
              <a:rPr lang="en-US" dirty="0"/>
              <a:t>Hidden Layer : ?</a:t>
            </a:r>
          </a:p>
        </p:txBody>
      </p:sp>
      <p:sp>
        <p:nvSpPr>
          <p:cNvPr id="20" name="TextBox 19"/>
          <p:cNvSpPr txBox="1"/>
          <p:nvPr/>
        </p:nvSpPr>
        <p:spPr>
          <a:xfrm>
            <a:off x="6815077" y="5658663"/>
            <a:ext cx="1838965" cy="369332"/>
          </a:xfrm>
          <a:prstGeom prst="rect">
            <a:avLst/>
          </a:prstGeom>
          <a:noFill/>
        </p:spPr>
        <p:txBody>
          <a:bodyPr wrap="none" rtlCol="0">
            <a:spAutoFit/>
          </a:bodyPr>
          <a:lstStyle/>
          <a:p>
            <a:r>
              <a:rPr lang="en-US" dirty="0"/>
              <a:t>Output Layer : ?</a:t>
            </a:r>
          </a:p>
        </p:txBody>
      </p:sp>
      <p:sp>
        <p:nvSpPr>
          <p:cNvPr id="6" name="TextBox 5"/>
          <p:cNvSpPr txBox="1"/>
          <p:nvPr/>
        </p:nvSpPr>
        <p:spPr>
          <a:xfrm>
            <a:off x="1562100" y="5162150"/>
            <a:ext cx="6353021" cy="369332"/>
          </a:xfrm>
          <a:prstGeom prst="rect">
            <a:avLst/>
          </a:prstGeom>
          <a:noFill/>
        </p:spPr>
        <p:txBody>
          <a:bodyPr wrap="none" rtlCol="0">
            <a:spAutoFit/>
          </a:bodyPr>
          <a:lstStyle/>
          <a:p>
            <a:r>
              <a:rPr lang="en-US" dirty="0"/>
              <a:t>How to determine number of Neurons in each of the layers ?</a:t>
            </a:r>
          </a:p>
        </p:txBody>
      </p:sp>
    </p:spTree>
    <p:extLst>
      <p:ext uri="{BB962C8B-B14F-4D97-AF65-F5344CB8AC3E}">
        <p14:creationId xmlns:p14="http://schemas.microsoft.com/office/powerpoint/2010/main" val="2324053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 Packages</a:t>
            </a:r>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96343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530498729"/>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Last Slide">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19376</TotalTime>
  <Words>990</Words>
  <Application>Microsoft Office PowerPoint</Application>
  <PresentationFormat>35mm Slides</PresentationFormat>
  <Paragraphs>87</Paragraphs>
  <Slides>9</Slides>
  <Notes>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Andalus</vt:lpstr>
      <vt:lpstr>Arial</vt:lpstr>
      <vt:lpstr>Cambria Math</vt:lpstr>
      <vt:lpstr>MASTERPLAN</vt:lpstr>
      <vt:lpstr>Times New Roman</vt:lpstr>
      <vt:lpstr>Verdana</vt:lpstr>
      <vt:lpstr>Default Design</vt:lpstr>
      <vt:lpstr>2_Last Slide</vt:lpstr>
      <vt:lpstr>PowerPoint Presentation</vt:lpstr>
      <vt:lpstr>Agenda</vt:lpstr>
      <vt:lpstr>A simple problem</vt:lpstr>
      <vt:lpstr>ANN</vt:lpstr>
      <vt:lpstr>Synapses</vt:lpstr>
      <vt:lpstr>Neurons</vt:lpstr>
      <vt:lpstr>Hyper-parameters</vt:lpstr>
      <vt:lpstr>R Packages</vt:lpstr>
      <vt:lpstr>PowerPoint Presentation</vt:lpstr>
    </vt:vector>
  </TitlesOfParts>
  <Company>Prithvi Information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Sridhar Pappu</dc:creator>
  <cp:lastModifiedBy>CPEE_BLR</cp:lastModifiedBy>
  <cp:revision>1307</cp:revision>
  <dcterms:created xsi:type="dcterms:W3CDTF">2008-10-30T05:46:58Z</dcterms:created>
  <dcterms:modified xsi:type="dcterms:W3CDTF">2017-02-18T09:59:46Z</dcterms:modified>
</cp:coreProperties>
</file>